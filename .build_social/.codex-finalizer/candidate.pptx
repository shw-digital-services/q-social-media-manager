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cedf697ae0467e" /><Relationship Type="http://schemas.openxmlformats.org/officeDocument/2006/relationships/extended-properties" Target="/docProps/app.xml" Id="R4fde1bd887804eb6" /><Relationship Type="http://schemas.openxmlformats.org/officeDocument/2006/relationships/officeDocument" Target="/ppt/presentation.xml" Id="Ra7cfe3fa36014b9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29693526c5146a3"/>
  </p:sldMasterIdLst>
  <p:notesMasterIdLst>
    <p:notesMasterId xmlns:r="http://schemas.openxmlformats.org/officeDocument/2006/relationships" r:id="Rb0dcf20ebbe44fc6"/>
  </p:notesMasterIdLst>
  <p:sldIdLst>
    <p:sldId xmlns:r="http://schemas.openxmlformats.org/officeDocument/2006/relationships" id="256" r:id="Rcc14b01699494522"/>
    <p:sldId xmlns:r="http://schemas.openxmlformats.org/officeDocument/2006/relationships" id="257" r:id="R4a0ec11ee3474d27"/>
    <p:sldId xmlns:r="http://schemas.openxmlformats.org/officeDocument/2006/relationships" id="258" r:id="Rb6cdb354801d4ab0"/>
    <p:sldId xmlns:r="http://schemas.openxmlformats.org/officeDocument/2006/relationships" id="259" r:id="Rae8c2a6e03734043"/>
    <p:sldId xmlns:r="http://schemas.openxmlformats.org/officeDocument/2006/relationships" id="260" r:id="R730c7a7e14124f42"/>
    <p:sldId xmlns:r="http://schemas.openxmlformats.org/officeDocument/2006/relationships" id="261" r:id="R3880c4c325bc4960"/>
    <p:sldId xmlns:r="http://schemas.openxmlformats.org/officeDocument/2006/relationships" id="262" r:id="Rd410a9dc05c14de7"/>
    <p:sldId xmlns:r="http://schemas.openxmlformats.org/officeDocument/2006/relationships" id="263" r:id="Red933919960e4958"/>
    <p:sldId xmlns:r="http://schemas.openxmlformats.org/officeDocument/2006/relationships" id="264" r:id="R956fa4ae21064ec2"/>
    <p:sldId xmlns:r="http://schemas.openxmlformats.org/officeDocument/2006/relationships" id="265" r:id="R0ce2e240fcbf492a"/>
    <p:sldId xmlns:r="http://schemas.openxmlformats.org/officeDocument/2006/relationships" id="266" r:id="Rce16b6ad74414527"/>
    <p:sldId xmlns:r="http://schemas.openxmlformats.org/officeDocument/2006/relationships" id="267" r:id="R7474b9ae3b8848b9"/>
    <p:sldId xmlns:r="http://schemas.openxmlformats.org/officeDocument/2006/relationships" id="268" r:id="R4a5bfb18776943ad"/>
    <p:sldId xmlns:r="http://schemas.openxmlformats.org/officeDocument/2006/relationships" id="269" r:id="Rd0d3934647bd450a"/>
    <p:sldId xmlns:r="http://schemas.openxmlformats.org/officeDocument/2006/relationships" id="270" r:id="R93c4d24eb9bb4483"/>
    <p:sldId xmlns:r="http://schemas.openxmlformats.org/officeDocument/2006/relationships" id="271" r:id="R34399d9608674a2e"/>
    <p:sldId xmlns:r="http://schemas.openxmlformats.org/officeDocument/2006/relationships" id="272" r:id="R57d2ff74a5864fdd"/>
    <p:sldId xmlns:r="http://schemas.openxmlformats.org/officeDocument/2006/relationships" id="273" r:id="R26129c05738f4a00"/>
    <p:sldId xmlns:r="http://schemas.openxmlformats.org/officeDocument/2006/relationships" id="274" r:id="Re7ef6130c6114328"/>
    <p:sldId xmlns:r="http://schemas.openxmlformats.org/officeDocument/2006/relationships" id="275" r:id="R0351209b8f2a4fe8"/>
    <p:sldId xmlns:r="http://schemas.openxmlformats.org/officeDocument/2006/relationships" id="276" r:id="R22ca348a8f084ced"/>
    <p:sldId xmlns:r="http://schemas.openxmlformats.org/officeDocument/2006/relationships" id="277" r:id="R97613987a9694255"/>
  </p:sldIdLst>
  <p:sldSz cx="12192000" cy="6858000"/>
  <p:notesSz cx="6858000" cy="9144000"/>
  <p:embeddedFontLst>
    <p:embeddedFont>
      <p:font typeface="Inter"/>
      <p:regular xmlns:r="http://schemas.openxmlformats.org/officeDocument/2006/relationships" r:id="Rab55d83ca8a44231"/>
      <p:bold xmlns:r="http://schemas.openxmlformats.org/officeDocument/2006/relationships" r:id="R3f23c1ac0c4c420f"/>
      <p:italic xmlns:r="http://schemas.openxmlformats.org/officeDocument/2006/relationships" r:id="R2ba7b0b790294436"/>
      <p:boldItalic xmlns:r="http://schemas.openxmlformats.org/officeDocument/2006/relationships" r:id="Rb46499289dfa4d1a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c6901f4345495e" /><Relationship Type="http://schemas.openxmlformats.org/officeDocument/2006/relationships/slideMaster" Target="/ppt/slideMasters/slideMaster1.xml" Id="R329693526c5146a3" /><Relationship Type="http://schemas.openxmlformats.org/officeDocument/2006/relationships/notesMaster" Target="/ppt/notesMasters/notesMaster1.xml" Id="Rb0dcf20ebbe44fc6" /><Relationship Type="http://schemas.openxmlformats.org/officeDocument/2006/relationships/presProps" Target="/ppt/presProps.xml" Id="Rc355158d3ce74637" /><Relationship Type="http://schemas.openxmlformats.org/officeDocument/2006/relationships/viewProps" Target="/ppt/viewProps.xml" Id="R950ebdc6b0244e91" /><Relationship Type="http://schemas.openxmlformats.org/officeDocument/2006/relationships/tableStyles" Target="/ppt/tableStyles.xml" Id="R606d77104a8d48fb" /><Relationship Type="http://schemas.openxmlformats.org/officeDocument/2006/relationships/font" Target="/ppt/fonts/font.dat" Id="Rab55d83ca8a44231" /><Relationship Type="http://schemas.openxmlformats.org/officeDocument/2006/relationships/font" Target="/ppt/fonts/font2.dat" Id="R3f23c1ac0c4c420f" /><Relationship Type="http://schemas.openxmlformats.org/officeDocument/2006/relationships/font" Target="/ppt/fonts/font3.dat" Id="R2ba7b0b790294436" /><Relationship Type="http://schemas.openxmlformats.org/officeDocument/2006/relationships/font" Target="/ppt/fonts/font4.dat" Id="Rb46499289dfa4d1a" /><Relationship Type="http://schemas.openxmlformats.org/officeDocument/2006/relationships/slide" Target="/ppt/slides/slide1.xml" Id="Rcc14b01699494522" /><Relationship Type="http://schemas.openxmlformats.org/officeDocument/2006/relationships/slide" Target="/ppt/slides/slide2.xml" Id="R4a0ec11ee3474d27" /><Relationship Type="http://schemas.openxmlformats.org/officeDocument/2006/relationships/slide" Target="/ppt/slides/slide3.xml" Id="Rb6cdb354801d4ab0" /><Relationship Type="http://schemas.openxmlformats.org/officeDocument/2006/relationships/slide" Target="/ppt/slides/slide4.xml" Id="Rae8c2a6e03734043" /><Relationship Type="http://schemas.openxmlformats.org/officeDocument/2006/relationships/slide" Target="/ppt/slides/slide5.xml" Id="R730c7a7e14124f42" /><Relationship Type="http://schemas.openxmlformats.org/officeDocument/2006/relationships/slide" Target="/ppt/slides/slide6.xml" Id="R3880c4c325bc4960" /><Relationship Type="http://schemas.openxmlformats.org/officeDocument/2006/relationships/slide" Target="/ppt/slides/slide7.xml" Id="Rd410a9dc05c14de7" /><Relationship Type="http://schemas.openxmlformats.org/officeDocument/2006/relationships/slide" Target="/ppt/slides/slide8.xml" Id="Red933919960e4958" /><Relationship Type="http://schemas.openxmlformats.org/officeDocument/2006/relationships/slide" Target="/ppt/slides/slide9.xml" Id="R956fa4ae21064ec2" /><Relationship Type="http://schemas.openxmlformats.org/officeDocument/2006/relationships/slide" Target="/ppt/slides/slide10.xml" Id="R0ce2e240fcbf492a" /><Relationship Type="http://schemas.openxmlformats.org/officeDocument/2006/relationships/slide" Target="/ppt/slides/slide11.xml" Id="Rce16b6ad74414527" /><Relationship Type="http://schemas.openxmlformats.org/officeDocument/2006/relationships/slide" Target="/ppt/slides/slide12.xml" Id="R7474b9ae3b8848b9" /><Relationship Type="http://schemas.openxmlformats.org/officeDocument/2006/relationships/slide" Target="/ppt/slides/slide13.xml" Id="R4a5bfb18776943ad" /><Relationship Type="http://schemas.openxmlformats.org/officeDocument/2006/relationships/slide" Target="/ppt/slides/slide14.xml" Id="Rd0d3934647bd450a" /><Relationship Type="http://schemas.openxmlformats.org/officeDocument/2006/relationships/slide" Target="/ppt/slides/slide15.xml" Id="R93c4d24eb9bb4483" /><Relationship Type="http://schemas.openxmlformats.org/officeDocument/2006/relationships/slide" Target="/ppt/slides/slide16.xml" Id="R34399d9608674a2e" /><Relationship Type="http://schemas.openxmlformats.org/officeDocument/2006/relationships/slide" Target="/ppt/slides/slide17.xml" Id="R57d2ff74a5864fdd" /><Relationship Type="http://schemas.openxmlformats.org/officeDocument/2006/relationships/slide" Target="/ppt/slides/slide18.xml" Id="R26129c05738f4a00" /><Relationship Type="http://schemas.openxmlformats.org/officeDocument/2006/relationships/slide" Target="/ppt/slides/slide19.xml" Id="Re7ef6130c6114328" /><Relationship Type="http://schemas.openxmlformats.org/officeDocument/2006/relationships/slide" Target="/ppt/slides/slide20.xml" Id="R0351209b8f2a4fe8" /><Relationship Type="http://schemas.openxmlformats.org/officeDocument/2006/relationships/slide" Target="/ppt/slides/slide21.xml" Id="R22ca348a8f084ced" /><Relationship Type="http://schemas.openxmlformats.org/officeDocument/2006/relationships/slide" Target="/ppt/slides/slide22.xml" Id="R97613987a96942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2c82ed41e047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lidesAI Simpl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d9c75fa7e24c76" /><Relationship Type="http://schemas.openxmlformats.org/officeDocument/2006/relationships/notesMaster" Target="/ppt/notesMasters/notesMaster1.xml" Id="R069eac152a9342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c0fb6ea0b243dd" /><Relationship Type="http://schemas.openxmlformats.org/officeDocument/2006/relationships/notesMaster" Target="/ppt/notesMasters/notesMaster1.xml" Id="Rf8ee7c5447e644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ee7c63b8f04ff4" /><Relationship Type="http://schemas.openxmlformats.org/officeDocument/2006/relationships/notesMaster" Target="/ppt/notesMasters/notesMaster1.xml" Id="R82cade600cfa44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9e2631b5494538" /><Relationship Type="http://schemas.openxmlformats.org/officeDocument/2006/relationships/notesMaster" Target="/ppt/notesMasters/notesMaster1.xml" Id="Rd94f1ea4e4284d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5bbfa4f25b4369" /><Relationship Type="http://schemas.openxmlformats.org/officeDocument/2006/relationships/notesMaster" Target="/ppt/notesMasters/notesMaster1.xml" Id="Rd2103acd418943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0f05bbea46432e" /><Relationship Type="http://schemas.openxmlformats.org/officeDocument/2006/relationships/notesMaster" Target="/ppt/notesMasters/notesMaster1.xml" Id="Rfcff2bc5b36243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bd2576134748a8" /><Relationship Type="http://schemas.openxmlformats.org/officeDocument/2006/relationships/notesMaster" Target="/ppt/notesMasters/notesMaster1.xml" Id="R868ba4a0bf194f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a7d98e33574644" /><Relationship Type="http://schemas.openxmlformats.org/officeDocument/2006/relationships/notesMaster" Target="/ppt/notesMasters/notesMaster1.xml" Id="Rd5669561e1114d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6446c8b594459a" /><Relationship Type="http://schemas.openxmlformats.org/officeDocument/2006/relationships/notesMaster" Target="/ppt/notesMasters/notesMaster1.xml" Id="Re7a7dac329da4f2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f8f2d336bdb482f" /><Relationship Type="http://schemas.openxmlformats.org/officeDocument/2006/relationships/notesMaster" Target="/ppt/notesMasters/notesMaster1.xml" Id="Rb4458cbc86be432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b9df234f1d4f0d" /><Relationship Type="http://schemas.openxmlformats.org/officeDocument/2006/relationships/notesMaster" Target="/ppt/notesMasters/notesMaster1.xml" Id="Ra6faf831968344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1bc481f8341498e" /><Relationship Type="http://schemas.openxmlformats.org/officeDocument/2006/relationships/notesMaster" Target="/ppt/notesMasters/notesMaster1.xml" Id="R37d030fc23dc4ab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5bbd060c6404bd5" /><Relationship Type="http://schemas.openxmlformats.org/officeDocument/2006/relationships/notesMaster" Target="/ppt/notesMasters/notesMaster1.xml" Id="Ra472a87d45f743c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1c0139246cc4961" /><Relationship Type="http://schemas.openxmlformats.org/officeDocument/2006/relationships/notesMaster" Target="/ppt/notesMasters/notesMaster1.xml" Id="Rf1606fd1563e461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39311992c5b4398" /><Relationship Type="http://schemas.openxmlformats.org/officeDocument/2006/relationships/notesMaster" Target="/ppt/notesMasters/notesMaster1.xml" Id="R826279de970747a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0d923f424dc4ca8" /><Relationship Type="http://schemas.openxmlformats.org/officeDocument/2006/relationships/notesMaster" Target="/ppt/notesMasters/notesMaster1.xml" Id="R48a75ce25517480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7f81522d06a4993" /><Relationship Type="http://schemas.openxmlformats.org/officeDocument/2006/relationships/notesMaster" Target="/ppt/notesMasters/notesMaster1.xml" Id="R47ba8ace0d64426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b65f8c821d04157" /><Relationship Type="http://schemas.openxmlformats.org/officeDocument/2006/relationships/notesMaster" Target="/ppt/notesMasters/notesMaster1.xml" Id="R97e822b4852946c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e847a8ea7704151" /><Relationship Type="http://schemas.openxmlformats.org/officeDocument/2006/relationships/notesMaster" Target="/ppt/notesMasters/notesMaster1.xml" Id="Rafe51774119244c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dc091c06e214ad9" /><Relationship Type="http://schemas.openxmlformats.org/officeDocument/2006/relationships/notesMaster" Target="/ppt/notesMasters/notesMaster1.xml" Id="R9927eea7a007451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1410936b6ef4300" /><Relationship Type="http://schemas.openxmlformats.org/officeDocument/2006/relationships/notesMaster" Target="/ppt/notesMasters/notesMaster1.xml" Id="R8cec2fcaa0464bb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e0d0f14a17f4e8f" /><Relationship Type="http://schemas.openxmlformats.org/officeDocument/2006/relationships/notesMaster" Target="/ppt/notesMasters/notesMaster1.xml" Id="R51bf0fdc9a0348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Welcome agents and explain how their work supports a respectful, reliable customer experience.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Set expectations for participation, questions and asking for help.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Pair introductions: each person shares one service quality they value as a customer and </a:t>
            </a:r>
            <a:r>
              <a:t>one behavior </a:t>
            </a:r>
            <a:r>
              <a:t>that demonstrates it. Invite a few examples; no personal wellbeing disclosures are needed.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Describe Q as a secure platform combining technology, wellbeing tools, guided support and personal growth resources.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Explain the visible features listed here: mood tracking, journaling, guided support and reflection resources. Avoid promising clinical outcomes or features not shown in approved guidance.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In pairs, give a 30-second plain-language explanation of Q to a new user. Partners identify one clear phrase and one point that needs approved guidance.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Connect personal pace, access to support, trust, privacy and wellbeing to everyday service choices.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Invite agents to consider how an interaction can respect a customer’s own goals without directing or judging them.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For each value on the slide, ask pairs to name one observable support behaviour that would demonstrate it. Share one example per 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Walk through the morning, afternoon and finish, showing how the topics build from safe principles to practice.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Explain that practice and sign-off are opportunities to identify support needs, not a reason to guess when uncertain.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Ask each learner to choose one topic they feel confident about and one they want to practise. Capture the latter for coaching later in the day.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Emphasise listening, non-judgement, accurate approved information and staying within training and access.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Distinguish helpful service from counselling, diagnosis, personal opinions or making commitments outside authority.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Read three short statements aloud: “I can show you where to find that setting”; “It sounds like you have depression”; “I’ll guarantee this is fixed today.” Learners classify as in role or out of role and rewrite the out-of-role replies safely.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 pause is appropriate when identity, access, risk or the correct next step is unclear.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Escalation protects the customer and agent; use the designated route and share only relevant facts. Do not promise an outcome or investigate beyond authority.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Scenario sort: learners label each case “continue”, “pause and check” or “escalate”: uncertain account identity; request for a feature walkthrough; report of a security concern; question asking for a legal interpretation. Discuss the route specified by local procedure.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Use information only for a clear support purpose and only what is needed.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Keep records factual, respectful and in approved systems; route rights or legal questions to the designated contact rather than deciding them.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Show a fictional over-detailed case note. Ask learners to remove irrelevant personal details and rewrite it as a concise, factual record. Discuss what should be routed instead of answered directly.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Reinforce never requesting passwords, one-time codes, reset links, journals, mood logs or private-chat screenshots.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Check recipient, attachments and quoted history before sending; keep customer information in approved tools.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“Spot the risk” email review: provide a fictional message containing a wrong recipient, unnecessary screenshot and quoted customer history. Learners identify each risk and state the safe correction before sending.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Treat suspected disclosure, account compromise or unusual access as a concern to report promptly through the designated incident route.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Recognise a rights request even when phrased informally; acknowledge it and route it to the designated privacy contact. Do not delete, export or promise a deadline unless procedure authorises it.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In triads, role-play an agent receiving (1) a suspected account compromise and (2) a request to see or erase personal information. Practise acknowledging, recording only necessary facts and routing without making a determination.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Demonstrate the platform areas named in the approved environment: mood tracking, journaling, guided programmes, memory features and user settings.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Explain that agents should guide navigation, not inspect or request private wellbeing content. Confirm any uncertain feature details against current guidance.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Give learners a guided “find the setting” task in a training or demo account. Ask them to describe the navigation steps without opening or discussing personal entries.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Describe what a feature does in neutral, plain language and explain its limits using approved wording.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Do not interpret mood entries, infer diagnoses or claim that a feature will produce a particular wellbeing result.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Learners rewrite two overclaims into safe explanations: “This will cure your anxiety” and “I can tell from your mood log what is wrong.” Ask them to keep the explanation useful and non-clinical.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Warmth and empathy can coexist with clear professional boundaries.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Acknowledge feelings without probing for intimate details; offer an appropriate platform or support route and escalate concerns using procedure.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Role-play a customer asking the agent to interpret a journal entry. Practise a brief empathic boundary statement and an appropriate next step; observer gives feedback on tone and 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Identify the approved communication tools and the organisation’s expectations for account security and professional messages.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Check recipients, attachments, links and quoted history; use the correct account and approved storage locations.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Using a training mailbox, learners draft a short acknowledgement, then run a pre-send check aloud: recipient, purpose, minimum necessary content, attachment and quoted history.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Explain the difference between shared team work and an agent’s assigned/personal work queue as defined by local setup.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Make ownership visible: avoid duplicate replies, check assignment/status and leave a clear handover when work moves.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Simulate two agents seeing the same enquiry. Learners agree who owns the reply, update the practice status and write a concise internal handover.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Capture accurate identifiers and only information needed to resolve or route the enquiry.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Keep status, owner and activity history current; distinguish customer-visible replies from internal notes.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From a fictional enquiry, learners create a practice record and ticket with a clear subject, concise factual summary, appropriate category/owner and next action. Review for unnecessary sensitive detail.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 useful note lets the next agent understand what happened, what was checked, what remains and who owns the next step.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Close only when the applicable process says the request is complete; avoid unexplained closure or unsupported claims.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Give pairs a messy fictional case history. They produce a four-part handover: issue, actions taken, current status, next owner/action. Another pair checks if it is factual and sufficient.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Walk through the route from finding the support channel to triage, response, hand-off and follow-up.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Keep the customer informed using confirmed information; check the sent record before retrying if a notification’s status is uncertain.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Sequence shuffled workflow cards into the correct local support journey. At each hand-off, learners identify what the customer should be told and what belongs in an internal note.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A good reply acknowledges the question, gives a clear supported next step and uses a respectful tone.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Templates are drafts: verify names, details, links and relevance. Avoid invented timelines, guarantees and unsupported claims.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Rewrite a vague or overly certain response into three parts: acknowledgement, one confirmed next step, and a realistic closing that does not promise an outcome.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Explain that the simulation combines listening, feature guidance, privacy, records, written communication and escalation.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Use fictional details only; learners should pause and consult guidance whenever facts or authority are unclear.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Run a small-group case: customer asks about a Q feature, includes sensitive journal content, and reports difficulty accessing an account. Assign agent, customer and observer roles; rotate and debrief the safe next steps.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Describe the observable criteria: minimum-information handling, accurate explanations, professional boundaries, correct tool use, sound escalation and clear communication.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Feedback should identify evidence, a specific improvement and a chance to practise again. Follow the organisation’s sign-off process.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Learner completes one short fictional case while trainer observes with the listed criteria. Give one strength and one specific practice point; allow a second attempt where needed.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Check understanding of Q, privacy, tools, boundaries and escalation, then address gaps through coaching.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Confirm accounts, permissions and local procedures with the authorised supervisor; sign-off follows the stated process before live work.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Use a brief verbal round: “What would make you pause?”, “What must never be requested?”, “Where does a rights request go?” Learner identifies one next coaching goal and any unanswered question.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Discussion points: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Close by reinforcing curiosity, privacy and asking for help when unsure.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Invite final questions and explain where agents can find current guidance and supervisor support.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Activity: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• Each learner completes an exit ticket: one safe practice they will use, one escalation route they will remember, and one question or coaching need. Thank the group and confirm the next step in onboarding.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f1a722474f458e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d1dbea330444f4" /><Relationship Type="http://schemas.openxmlformats.org/officeDocument/2006/relationships/slideLayout" Target="/ppt/slideLayouts/slideLayout1.xml" Id="R4151b7a5795e45a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51b7a5795e45aa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lidesAI Simpl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d828753134378" /><Relationship Type="http://schemas.openxmlformats.org/officeDocument/2006/relationships/image" Target="/ppt/media/image.png" Id="R65bdc24811eb45dc" /><Relationship Type="http://schemas.openxmlformats.org/officeDocument/2006/relationships/notesSlide" Target="/ppt/notesSlides/notesSlide1.xml" Id="R0b124719677645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a3002ebca4424" /><Relationship Type="http://schemas.openxmlformats.org/officeDocument/2006/relationships/image" Target="/ppt/media/image2.png" Id="Ra68d8755be6d4257" /><Relationship Type="http://schemas.openxmlformats.org/officeDocument/2006/relationships/notesSlide" Target="/ppt/notesSlides/notesSlide2.xml" Id="R7ccfc2b7f2bc43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0c14b43354895" /><Relationship Type="http://schemas.openxmlformats.org/officeDocument/2006/relationships/image" Target="/ppt/media/image2.png" Id="R78b4efe256a84f31" /><Relationship Type="http://schemas.openxmlformats.org/officeDocument/2006/relationships/notesSlide" Target="/ppt/notesSlides/notesSlide3.xml" Id="R35b17bc2f4de4f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a061753c748d1" /><Relationship Type="http://schemas.openxmlformats.org/officeDocument/2006/relationships/image" Target="/ppt/media/image2.png" Id="R4d05f9ab4bc745bf" /><Relationship Type="http://schemas.openxmlformats.org/officeDocument/2006/relationships/notesSlide" Target="/ppt/notesSlides/notesSlide4.xml" Id="Rd9ee82d053c744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97305ee6dc4170" /><Relationship Type="http://schemas.openxmlformats.org/officeDocument/2006/relationships/image" Target="/ppt/media/image2.png" Id="R53275e24c97248de" /><Relationship Type="http://schemas.openxmlformats.org/officeDocument/2006/relationships/notesSlide" Target="/ppt/notesSlides/notesSlide5.xml" Id="R9c16253f0e5247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cac16646554f10" /><Relationship Type="http://schemas.openxmlformats.org/officeDocument/2006/relationships/image" Target="/ppt/media/image2.png" Id="R2500620b33724f48" /><Relationship Type="http://schemas.openxmlformats.org/officeDocument/2006/relationships/notesSlide" Target="/ppt/notesSlides/notesSlide6.xml" Id="R5bec8f9ad4e445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c4d8394342464a" /><Relationship Type="http://schemas.openxmlformats.org/officeDocument/2006/relationships/image" Target="/ppt/media/image2.png" Id="R1619577db2c54ebb" /><Relationship Type="http://schemas.openxmlformats.org/officeDocument/2006/relationships/notesSlide" Target="/ppt/notesSlides/notesSlide7.xml" Id="Ref39af58108245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5f21f96e64197" /><Relationship Type="http://schemas.openxmlformats.org/officeDocument/2006/relationships/image" Target="/ppt/media/image2.png" Id="R292a66b8571e4199" /><Relationship Type="http://schemas.openxmlformats.org/officeDocument/2006/relationships/notesSlide" Target="/ppt/notesSlides/notesSlide8.xml" Id="R8672c03e32b3488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6945490024b27" /><Relationship Type="http://schemas.openxmlformats.org/officeDocument/2006/relationships/image" Target="/ppt/media/image2.png" Id="Ra7f99cd3baa04932" /><Relationship Type="http://schemas.openxmlformats.org/officeDocument/2006/relationships/notesSlide" Target="/ppt/notesSlides/notesSlide9.xml" Id="R56f6f443038a4ee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68a8c00a244c1e" /><Relationship Type="http://schemas.openxmlformats.org/officeDocument/2006/relationships/image" Target="/ppt/media/image2.png" Id="R7baa53a435c7463d" /><Relationship Type="http://schemas.openxmlformats.org/officeDocument/2006/relationships/notesSlide" Target="/ppt/notesSlides/notesSlide10.xml" Id="Re9c636dba2ed46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9f6f7dc09443f" /><Relationship Type="http://schemas.openxmlformats.org/officeDocument/2006/relationships/image" Target="/ppt/media/image2.png" Id="R2d7db92080da4f4c" /><Relationship Type="http://schemas.openxmlformats.org/officeDocument/2006/relationships/notesSlide" Target="/ppt/notesSlides/notesSlide11.xml" Id="Rf05953d881f742b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f8f0030724cae" /><Relationship Type="http://schemas.openxmlformats.org/officeDocument/2006/relationships/image" Target="/ppt/media/image2.png" Id="Rb7f82bd5f5404762" /><Relationship Type="http://schemas.openxmlformats.org/officeDocument/2006/relationships/image" Target="/ppt/media/image3.png" Id="Re8f6fdc275254290" /><Relationship Type="http://schemas.openxmlformats.org/officeDocument/2006/relationships/hyperlink" Target="https://slidesai.io/?utm_source=export&amp;utm_medium=pptx" TargetMode="External" Id="R68dbcda25fc54a52" /><Relationship Type="http://schemas.openxmlformats.org/officeDocument/2006/relationships/notesSlide" Target="/ppt/notesSlides/notesSlide12.xml" Id="Raf12fd695f7c402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b73fd080024d2e" /><Relationship Type="http://schemas.openxmlformats.org/officeDocument/2006/relationships/image" Target="/ppt/media/image2.png" Id="Rdee7b1e486334458" /><Relationship Type="http://schemas.openxmlformats.org/officeDocument/2006/relationships/notesSlide" Target="/ppt/notesSlides/notesSlide13.xml" Id="R62f67d2d431541c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a102261c04d74" /><Relationship Type="http://schemas.openxmlformats.org/officeDocument/2006/relationships/image" Target="/ppt/media/image2.png" Id="R1b9f38441698494e" /><Relationship Type="http://schemas.openxmlformats.org/officeDocument/2006/relationships/notesSlide" Target="/ppt/notesSlides/notesSlide14.xml" Id="R5a616d1e45994ab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69715c6e349e7" /><Relationship Type="http://schemas.openxmlformats.org/officeDocument/2006/relationships/image" Target="/ppt/media/image2.png" Id="R46c19851214f49a4" /><Relationship Type="http://schemas.openxmlformats.org/officeDocument/2006/relationships/notesSlide" Target="/ppt/notesSlides/notesSlide15.xml" Id="R0436b08701ce4ab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6a65d1e4c4981" /><Relationship Type="http://schemas.openxmlformats.org/officeDocument/2006/relationships/image" Target="/ppt/media/image2.png" Id="Re6197eea37534a8a" /><Relationship Type="http://schemas.openxmlformats.org/officeDocument/2006/relationships/notesSlide" Target="/ppt/notesSlides/notesSlide16.xml" Id="Rd8709a0fbe7f4b1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b42a13a504a32" /><Relationship Type="http://schemas.openxmlformats.org/officeDocument/2006/relationships/image" Target="/ppt/media/image2.png" Id="R54b9f27c43dc4e61" /><Relationship Type="http://schemas.openxmlformats.org/officeDocument/2006/relationships/notesSlide" Target="/ppt/notesSlides/notesSlide17.xml" Id="R2fdf0b40045b431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a2b24963264241" /><Relationship Type="http://schemas.openxmlformats.org/officeDocument/2006/relationships/image" Target="/ppt/media/image2.png" Id="Rd769f5e91f204289" /><Relationship Type="http://schemas.openxmlformats.org/officeDocument/2006/relationships/notesSlide" Target="/ppt/notesSlides/notesSlide18.xml" Id="R70669d37de4f4f7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2cbdbe1a924ad5" /><Relationship Type="http://schemas.openxmlformats.org/officeDocument/2006/relationships/image" Target="/ppt/media/image2.png" Id="R21b0355e89e04ba4" /><Relationship Type="http://schemas.openxmlformats.org/officeDocument/2006/relationships/notesSlide" Target="/ppt/notesSlides/notesSlide19.xml" Id="R7e13686d68dc401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c4fdfc48ca4caa" /><Relationship Type="http://schemas.openxmlformats.org/officeDocument/2006/relationships/image" Target="/ppt/media/image2.png" Id="R81c786e637274d71" /><Relationship Type="http://schemas.openxmlformats.org/officeDocument/2006/relationships/notesSlide" Target="/ppt/notesSlides/notesSlide20.xml" Id="R93cc5915b3174cd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801e7e09784683" /><Relationship Type="http://schemas.openxmlformats.org/officeDocument/2006/relationships/image" Target="/ppt/media/image2.png" Id="R115b8456da434f2d" /><Relationship Type="http://schemas.openxmlformats.org/officeDocument/2006/relationships/notesSlide" Target="/ppt/notesSlides/notesSlide21.xml" Id="R6ff1e72976e2493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e768ec66e4fca" /><Relationship Type="http://schemas.openxmlformats.org/officeDocument/2006/relationships/image" Target="/ppt/media/image2.png" Id="R61fa951458244199" /><Relationship Type="http://schemas.openxmlformats.org/officeDocument/2006/relationships/notesSlide" Target="/ppt/notesSlides/notesSlide22.xml" Id="R3f8a9165e0b940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206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1F793150-71AD-4831-82A8-F443C7595397}"/>
              </a:ext>
            </a:extLst>
          </p:cNvPr>
          <p:cNvCxnSpPr/>
          <p:nvPr/>
        </p:nvCxnSpPr>
        <p:spPr>
          <a:xfrm xmlns:a="http://schemas.openxmlformats.org/drawingml/2006/main">
            <a:off x="876300" y="909638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6667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311014D3-89A8-4C37-B759-389CCB6E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90700"/>
            <a:ext cx="104394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Inter"/>
              <a:buNone/>
            </a:pPr>
            <a:r>
              <a:rPr sz="48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Social Media Officer</a:t>
            </a:r>
            <a:endParaRPr sz="4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Inter"/>
              <a:buNone/>
            </a:pPr>
            <a:r>
              <a:rPr sz="48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Induction</a:t>
            </a: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27274046-F035-4BEA-B44E-229D5E3A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67075"/>
            <a:ext cx="857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2D6FF"/>
              </a:buClr>
              <a:buSzPts val="2250"/>
              <a:buFont typeface="Inter"/>
              <a:buNone/>
            </a:pPr>
            <a:r>
              <a:rPr sz="2250" b="0" i="0" u="none" strike="noStrike" cap="none">
                <a:solidFill>
                  <a:srgbClr val="E2D6FF"/>
                </a:solidFill>
                <a:latin typeface="Inter"/>
                <a:ea typeface="Inter"/>
                <a:cs typeface="Inter"/>
              </a:rPr>
              <a:t>A practical introduction to representing Q on social media.</a:t>
            </a:r>
            <a:endParaRPr sz="225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0D268EF1-3461-4679-8785-4F3584D6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72175"/>
            <a:ext cx="1390138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80"/>
              <a:buFont typeface="Inter"/>
              <a:buNone/>
            </a:pPr>
            <a:r>
              <a:rPr sz="158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Q Intelligence</a:t>
            </a:r>
            <a:endParaRPr sz="15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69CAA748-1580-4718-95ED-0A8986EC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123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F15CB4BE-EEA4-4492-BF91-370CE98CF5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bdc24811eb45d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848850" y="1790700"/>
            <a:ext cx="1924050" cy="1924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516541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7" name="Google Shape;27;p4">
            <a:extLst xmlns:a="http://schemas.openxmlformats.org/drawingml/2006/main">
              <a:ext uri="{FF2B5EF4-FFF2-40B4-BE49-F238E27FC236}">
                <a16:creationId xmlns:a16="http://schemas.microsoft.com/office/drawing/2014/main" id="{4099959B-9875-4B63-B965-A917830C8BDC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B896E2CE-057A-4CD3-AB96-4ADF76C5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What is Q?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9CD6598E-D24B-42A4-B46D-258DA0CF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An AI-powered wellbeing and personal growth platform for LGBTQ+ people and allies.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348829BF-09DD-4377-B5EC-60A059F5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Technology and wellbeing tools in one secure platform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Guided support, mood tracking and journaling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Resources for reflection and personal growth</a:t>
            </a:r>
          </a:p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EE240636-00C2-4A0B-B096-6D97D564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03B94B37-4A42-432C-B6A6-A342391D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33" name="Google Shape;33;p4">
            <a:extLst xmlns:a="http://schemas.openxmlformats.org/drawingml/2006/main">
              <a:ext uri="{FF2B5EF4-FFF2-40B4-BE49-F238E27FC236}">
                <a16:creationId xmlns:a16="http://schemas.microsoft.com/office/drawing/2014/main" id="{DF3F2510-6EF6-4904-9C89-3A8705232B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8d8755be6d425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0408911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206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2B9F6753-BF2A-4C73-8173-ECD1596112AB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5">
            <a:extLst xmlns:a="http://schemas.openxmlformats.org/drawingml/2006/main">
              <a:ext uri="{FF2B5EF4-FFF2-40B4-BE49-F238E27FC236}">
                <a16:creationId xmlns:a16="http://schemas.microsoft.com/office/drawing/2014/main" id="{F1BEEDCF-9556-4BEC-AC52-3E844D19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Q’s mission and values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41" name="Google Shape;41;p5">
            <a:extLst xmlns:a="http://schemas.openxmlformats.org/drawingml/2006/main">
              <a:ext uri="{FF2B5EF4-FFF2-40B4-BE49-F238E27FC236}">
                <a16:creationId xmlns:a16="http://schemas.microsoft.com/office/drawing/2014/main" id="{C87B0E37-740F-48AE-A981-7CB5B368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Support people as they understand themselves and make changes that feel right for them.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42" name="Google Shape;42;p5">
            <a:extLst xmlns:a="http://schemas.openxmlformats.org/drawingml/2006/main">
              <a:ext uri="{FF2B5EF4-FFF2-40B4-BE49-F238E27FC236}">
                <a16:creationId xmlns:a16="http://schemas.microsoft.com/office/drawing/2014/main" id="{0B1C1BD5-0FDC-4A69-BA0B-88C57DD7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Build positive habits at the person’s own pace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Make support available when it is needed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Put trust, privacy and user wellbeing at the centre</a:t>
            </a:r>
          </a:p>
        </p:txBody>
      </p:sp>
      <p:sp>
        <p:nvSpPr>
          <p:cNvPr id="43" name="Google Shape;43;p5">
            <a:extLst xmlns:a="http://schemas.openxmlformats.org/drawingml/2006/main">
              <a:ext uri="{FF2B5EF4-FFF2-40B4-BE49-F238E27FC236}">
                <a16:creationId xmlns:a16="http://schemas.microsoft.com/office/drawing/2014/main" id="{77C359D1-562B-47D1-8163-D4DE00B7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44" name="Google Shape;44;p5">
            <a:extLst xmlns:a="http://schemas.openxmlformats.org/drawingml/2006/main">
              <a:ext uri="{FF2B5EF4-FFF2-40B4-BE49-F238E27FC236}">
                <a16:creationId xmlns:a16="http://schemas.microsoft.com/office/drawing/2014/main" id="{35321BE0-D4A1-4B40-A70A-1765986C7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B5F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45" name="Google Shape;45;p5">
            <a:extLst xmlns:a="http://schemas.openxmlformats.org/drawingml/2006/main">
              <a:ext uri="{FF2B5EF4-FFF2-40B4-BE49-F238E27FC236}">
                <a16:creationId xmlns:a16="http://schemas.microsoft.com/office/drawing/2014/main" id="{1E5C9FFF-BBCD-4481-A54B-597451CBE6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b4efe256a84f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8492271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Google Shape;51;p6">
            <a:extLst xmlns:a="http://schemas.openxmlformats.org/drawingml/2006/main">
              <a:ext uri="{FF2B5EF4-FFF2-40B4-BE49-F238E27FC236}">
                <a16:creationId xmlns:a16="http://schemas.microsoft.com/office/drawing/2014/main" id="{8AA2F797-2152-4BA3-B068-A263EA2D680B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6">
            <a:extLst xmlns:a="http://schemas.openxmlformats.org/drawingml/2006/main">
              <a:ext uri="{FF2B5EF4-FFF2-40B4-BE49-F238E27FC236}">
                <a16:creationId xmlns:a16="http://schemas.microsoft.com/office/drawing/2014/main" id="{C498A30F-3A34-4295-B1EF-D5667B31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Induction at a glance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53" name="Google Shape;53;p6">
            <a:extLst xmlns:a="http://schemas.openxmlformats.org/drawingml/2006/main">
              <a:ext uri="{FF2B5EF4-FFF2-40B4-BE49-F238E27FC236}">
                <a16:creationId xmlns:a16="http://schemas.microsoft.com/office/drawing/2014/main" id="{9E54A5F2-0237-454A-B4A1-C114ECB3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A day of practical learning, guided practice and support.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54" name="Google Shape;54;p6">
            <a:extLst xmlns:a="http://schemas.openxmlformats.org/drawingml/2006/main">
              <a:ext uri="{FF2B5EF4-FFF2-40B4-BE49-F238E27FC236}">
                <a16:creationId xmlns:a16="http://schemas.microsoft.com/office/drawing/2014/main" id="{2E21B003-7731-4668-A211-0479C89D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Morning: role boundaries, brand voice and safe publishing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Afternoon: channel workflow, moderation and analytics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Finish: scenario practice, assessment and sign-off</a:t>
            </a:r>
          </a:p>
        </p:txBody>
      </p:sp>
      <p:sp>
        <p:nvSpPr>
          <p:cNvPr id="55" name="Google Shape;55;p6">
            <a:extLst xmlns:a="http://schemas.openxmlformats.org/drawingml/2006/main">
              <a:ext uri="{FF2B5EF4-FFF2-40B4-BE49-F238E27FC236}">
                <a16:creationId xmlns:a16="http://schemas.microsoft.com/office/drawing/2014/main" id="{15374D75-83E0-4354-9064-4B54A60A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56" name="Google Shape;56;p6">
            <a:extLst xmlns:a="http://schemas.openxmlformats.org/drawingml/2006/main">
              <a:ext uri="{FF2B5EF4-FFF2-40B4-BE49-F238E27FC236}">
                <a16:creationId xmlns:a16="http://schemas.microsoft.com/office/drawing/2014/main" id="{DE137094-7FF5-4BF1-B0A9-271D9DB5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57" name="Google Shape;57;p6">
            <a:extLst xmlns:a="http://schemas.openxmlformats.org/drawingml/2006/main">
              <a:ext uri="{FF2B5EF4-FFF2-40B4-BE49-F238E27FC236}">
                <a16:creationId xmlns:a16="http://schemas.microsoft.com/office/drawing/2014/main" id="{36903987-C067-417C-BEA4-E7F3BCF33F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05f9ab4bc745b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818083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206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63" name="Google Shape;63;p7">
            <a:extLst xmlns:a="http://schemas.openxmlformats.org/drawingml/2006/main">
              <a:ext uri="{FF2B5EF4-FFF2-40B4-BE49-F238E27FC236}">
                <a16:creationId xmlns:a16="http://schemas.microsoft.com/office/drawing/2014/main" id="{D55A2365-029A-4F7A-BE74-F0A048CAB48C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" name="Google Shape;64;p7">
            <a:extLst xmlns:a="http://schemas.openxmlformats.org/drawingml/2006/main">
              <a:ext uri="{FF2B5EF4-FFF2-40B4-BE49-F238E27FC236}">
                <a16:creationId xmlns:a16="http://schemas.microsoft.com/office/drawing/2014/main" id="{C2E8DB0B-BF10-4B1B-B199-C7E1CA2D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Roles and boundaries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65" name="Google Shape;65;p7">
            <a:extLst xmlns:a="http://schemas.openxmlformats.org/drawingml/2006/main">
              <a:ext uri="{FF2B5EF4-FFF2-40B4-BE49-F238E27FC236}">
                <a16:creationId xmlns:a16="http://schemas.microsoft.com/office/drawing/2014/main" id="{3347FBC0-74EB-4458-BFC5-44062F26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Represent Q clearly, respectfully and within your authority.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66" name="Google Shape;66;p7">
            <a:extLst xmlns:a="http://schemas.openxmlformats.org/drawingml/2006/main">
              <a:ext uri="{FF2B5EF4-FFF2-40B4-BE49-F238E27FC236}">
                <a16:creationId xmlns:a16="http://schemas.microsoft.com/office/drawing/2014/main" id="{EE90F1AB-D9E9-4EF8-AAD7-8378A833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Create and schedule content from approved plans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Use the brand voice and current product guidance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Do not speak for Q on unapproved issues or make promises</a:t>
            </a:r>
          </a:p>
        </p:txBody>
      </p:sp>
      <p:sp>
        <p:nvSpPr>
          <p:cNvPr id="67" name="Google Shape;67;p7">
            <a:extLst xmlns:a="http://schemas.openxmlformats.org/drawingml/2006/main">
              <a:ext uri="{FF2B5EF4-FFF2-40B4-BE49-F238E27FC236}">
                <a16:creationId xmlns:a16="http://schemas.microsoft.com/office/drawing/2014/main" id="{80B12499-A067-477B-80D2-A66480DB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68" name="Google Shape;68;p7">
            <a:extLst xmlns:a="http://schemas.openxmlformats.org/drawingml/2006/main">
              <a:ext uri="{FF2B5EF4-FFF2-40B4-BE49-F238E27FC236}">
                <a16:creationId xmlns:a16="http://schemas.microsoft.com/office/drawing/2014/main" id="{18592D3C-017B-4D23-A133-8DA2D473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B5F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69" name="Google Shape;69;p7">
            <a:extLst xmlns:a="http://schemas.openxmlformats.org/drawingml/2006/main">
              <a:ext uri="{FF2B5EF4-FFF2-40B4-BE49-F238E27FC236}">
                <a16:creationId xmlns:a16="http://schemas.microsoft.com/office/drawing/2014/main" id="{0A4DCD9F-C34F-4D51-B5C9-BE7C6D7D13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275e24c97248d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0885118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75" name="Google Shape;75;p8">
            <a:extLst xmlns:a="http://schemas.openxmlformats.org/drawingml/2006/main">
              <a:ext uri="{FF2B5EF4-FFF2-40B4-BE49-F238E27FC236}">
                <a16:creationId xmlns:a16="http://schemas.microsoft.com/office/drawing/2014/main" id="{419884FA-6EE2-4066-B142-99A56186CFB4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" name="Google Shape;76;p8">
            <a:extLst xmlns:a="http://schemas.openxmlformats.org/drawingml/2006/main">
              <a:ext uri="{FF2B5EF4-FFF2-40B4-BE49-F238E27FC236}">
                <a16:creationId xmlns:a16="http://schemas.microsoft.com/office/drawing/2014/main" id="{0708B561-51A0-4BA5-B446-58A8CFD19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When to pause and escalate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77" name="Google Shape;77;p8">
            <a:extLst xmlns:a="http://schemas.openxmlformats.org/drawingml/2006/main">
              <a:ext uri="{FF2B5EF4-FFF2-40B4-BE49-F238E27FC236}">
                <a16:creationId xmlns:a16="http://schemas.microsoft.com/office/drawing/2014/main" id="{472FE18F-023D-4D71-8825-7249E518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A safe pause protects the community and the organisation.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78" name="Google Shape;78;p8">
            <a:extLst xmlns:a="http://schemas.openxmlformats.org/drawingml/2006/main">
              <a:ext uri="{FF2B5EF4-FFF2-40B4-BE49-F238E27FC236}">
                <a16:creationId xmlns:a16="http://schemas.microsoft.com/office/drawing/2014/main" id="{93839D5E-7C76-42F7-BC7B-837451BC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Pause if facts, approval or account access are unclear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Escalate safety, privacy, security or legal concerns promptly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Do not argue, speculate, diagnose or promise an outcome</a:t>
            </a:r>
          </a:p>
        </p:txBody>
      </p:sp>
      <p:sp>
        <p:nvSpPr>
          <p:cNvPr id="79" name="Google Shape;79;p8">
            <a:extLst xmlns:a="http://schemas.openxmlformats.org/drawingml/2006/main">
              <a:ext uri="{FF2B5EF4-FFF2-40B4-BE49-F238E27FC236}">
                <a16:creationId xmlns:a16="http://schemas.microsoft.com/office/drawing/2014/main" id="{703ED4B6-E020-4626-8634-C7039687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80" name="Google Shape;80;p8">
            <a:extLst xmlns:a="http://schemas.openxmlformats.org/drawingml/2006/main">
              <a:ext uri="{FF2B5EF4-FFF2-40B4-BE49-F238E27FC236}">
                <a16:creationId xmlns:a16="http://schemas.microsoft.com/office/drawing/2014/main" id="{37286126-C26A-4A6D-8B86-F3E17AD7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81" name="Google Shape;81;p8">
            <a:extLst xmlns:a="http://schemas.openxmlformats.org/drawingml/2006/main">
              <a:ext uri="{FF2B5EF4-FFF2-40B4-BE49-F238E27FC236}">
                <a16:creationId xmlns:a16="http://schemas.microsoft.com/office/drawing/2014/main" id="{5DCA77DE-852F-4DF3-8394-2299F1F701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00620b33724f4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964586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87" name="Google Shape;87;p9">
            <a:extLst xmlns:a="http://schemas.openxmlformats.org/drawingml/2006/main">
              <a:ext uri="{FF2B5EF4-FFF2-40B4-BE49-F238E27FC236}">
                <a16:creationId xmlns:a16="http://schemas.microsoft.com/office/drawing/2014/main" id="{5EDD43B7-426B-46BB-9A50-ABA96E3AC992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9">
            <a:extLst xmlns:a="http://schemas.openxmlformats.org/drawingml/2006/main">
              <a:ext uri="{FF2B5EF4-FFF2-40B4-BE49-F238E27FC236}">
                <a16:creationId xmlns:a16="http://schemas.microsoft.com/office/drawing/2014/main" id="{5807D283-DA14-41D2-AD47-F0B8E9BE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Legal awareness and data protection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89" name="Google Shape;89;p9">
            <a:extLst xmlns:a="http://schemas.openxmlformats.org/drawingml/2006/main">
              <a:ext uri="{FF2B5EF4-FFF2-40B4-BE49-F238E27FC236}">
                <a16:creationId xmlns:a16="http://schemas.microsoft.com/office/drawing/2014/main" id="{F406AA3A-6AAA-4851-8848-38B29045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Use personal information only for a clear, authorised purpose.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90" name="Google Shape;90;p9">
            <a:extLst xmlns:a="http://schemas.openxmlformats.org/drawingml/2006/main">
              <a:ext uri="{FF2B5EF4-FFF2-40B4-BE49-F238E27FC236}">
                <a16:creationId xmlns:a16="http://schemas.microsoft.com/office/drawing/2014/main" id="{97B3F973-A919-45DF-B6F4-442CBB27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Collect or record only what the approved workflow needs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Keep internal records factual and respectful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Use approved accounts, tools and retention procedures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Route rights or legal questions to the designated contact</a:t>
            </a:r>
          </a:p>
        </p:txBody>
      </p:sp>
      <p:sp>
        <p:nvSpPr>
          <p:cNvPr id="91" name="Google Shape;91;p9">
            <a:extLst xmlns:a="http://schemas.openxmlformats.org/drawingml/2006/main">
              <a:ext uri="{FF2B5EF4-FFF2-40B4-BE49-F238E27FC236}">
                <a16:creationId xmlns:a16="http://schemas.microsoft.com/office/drawing/2014/main" id="{BF9BBE0A-09A8-4555-B048-3F4673B9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92" name="Google Shape;92;p9">
            <a:extLst xmlns:a="http://schemas.openxmlformats.org/drawingml/2006/main">
              <a:ext uri="{FF2B5EF4-FFF2-40B4-BE49-F238E27FC236}">
                <a16:creationId xmlns:a16="http://schemas.microsoft.com/office/drawing/2014/main" id="{F13080D0-0104-4E5C-9DDE-4416BD89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93" name="Google Shape;93;p9">
            <a:extLst xmlns:a="http://schemas.openxmlformats.org/drawingml/2006/main">
              <a:ext uri="{FF2B5EF4-FFF2-40B4-BE49-F238E27FC236}">
                <a16:creationId xmlns:a16="http://schemas.microsoft.com/office/drawing/2014/main" id="{D9D310EC-C583-4399-8CF6-2D5860FABB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19577db2c54eb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5382036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206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99" name="Google Shape;99;p10">
            <a:extLst xmlns:a="http://schemas.openxmlformats.org/drawingml/2006/main">
              <a:ext uri="{FF2B5EF4-FFF2-40B4-BE49-F238E27FC236}">
                <a16:creationId xmlns:a16="http://schemas.microsoft.com/office/drawing/2014/main" id="{7F5DCF14-D85F-4F57-8F9D-1209E003B3EB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0" name="Google Shape;100;p10">
            <a:extLst xmlns:a="http://schemas.openxmlformats.org/drawingml/2006/main">
              <a:ext uri="{FF2B5EF4-FFF2-40B4-BE49-F238E27FC236}">
                <a16:creationId xmlns:a16="http://schemas.microsoft.com/office/drawing/2014/main" id="{B40AB0A5-9ED9-4738-808A-6B4E13CC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Everyday information safety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01" name="Google Shape;101;p10">
            <a:extLst xmlns:a="http://schemas.openxmlformats.org/drawingml/2006/main">
              <a:ext uri="{FF2B5EF4-FFF2-40B4-BE49-F238E27FC236}">
                <a16:creationId xmlns:a16="http://schemas.microsoft.com/office/drawing/2014/main" id="{AFC6EA5E-0451-4C6B-98F1-0BDCB2DD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Small checks help protect trust and account access.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02" name="Google Shape;102;p10">
            <a:extLst xmlns:a="http://schemas.openxmlformats.org/drawingml/2006/main">
              <a:ext uri="{FF2B5EF4-FFF2-40B4-BE49-F238E27FC236}">
                <a16:creationId xmlns:a16="http://schemas.microsoft.com/office/drawing/2014/main" id="{78CCA798-D69F-4923-9AC6-C72452C7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Never ask for passwords, one-time codes or reset links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Do not copy private posts or messages into unapproved tools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Check account, audience, links and media before publishing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Keep work in approved systems; report suspicious activity</a:t>
            </a:r>
          </a:p>
        </p:txBody>
      </p:sp>
      <p:sp>
        <p:nvSpPr>
          <p:cNvPr id="103" name="Google Shape;103;p10">
            <a:extLst xmlns:a="http://schemas.openxmlformats.org/drawingml/2006/main">
              <a:ext uri="{FF2B5EF4-FFF2-40B4-BE49-F238E27FC236}">
                <a16:creationId xmlns:a16="http://schemas.microsoft.com/office/drawing/2014/main" id="{E1C66EBC-F1C7-43D9-900C-E842DA8B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04" name="Google Shape;104;p10">
            <a:extLst xmlns:a="http://schemas.openxmlformats.org/drawingml/2006/main">
              <a:ext uri="{FF2B5EF4-FFF2-40B4-BE49-F238E27FC236}">
                <a16:creationId xmlns:a16="http://schemas.microsoft.com/office/drawing/2014/main" id="{5DF53ADC-0A8E-4AB8-9BCA-B18FA222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B5F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105" name="Google Shape;105;p10">
            <a:extLst xmlns:a="http://schemas.openxmlformats.org/drawingml/2006/main">
              <a:ext uri="{FF2B5EF4-FFF2-40B4-BE49-F238E27FC236}">
                <a16:creationId xmlns:a16="http://schemas.microsoft.com/office/drawing/2014/main" id="{F257DAB0-F84B-4D68-9F63-99168D9D3D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2a66b8571e419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1459293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1" name="Google Shape;111;p11">
            <a:extLst xmlns:a="http://schemas.openxmlformats.org/drawingml/2006/main">
              <a:ext uri="{FF2B5EF4-FFF2-40B4-BE49-F238E27FC236}">
                <a16:creationId xmlns:a16="http://schemas.microsoft.com/office/drawing/2014/main" id="{B54C7E5E-B77C-45EC-B02F-54EA5B5D6916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2" name="Google Shape;112;p11">
            <a:extLst xmlns:a="http://schemas.openxmlformats.org/drawingml/2006/main">
              <a:ext uri="{FF2B5EF4-FFF2-40B4-BE49-F238E27FC236}">
                <a16:creationId xmlns:a16="http://schemas.microsoft.com/office/drawing/2014/main" id="{BB52F5D2-3DEF-43B6-8E41-4027E26D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Incidents, rights requests and escalation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13" name="Google Shape;113;p11">
            <a:extLst xmlns:a="http://schemas.openxmlformats.org/drawingml/2006/main">
              <a:ext uri="{FF2B5EF4-FFF2-40B4-BE49-F238E27FC236}">
                <a16:creationId xmlns:a16="http://schemas.microsoft.com/office/drawing/2014/main" id="{4FE7294D-B6F3-4F56-B3A3-0BFA9AA8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Recognise the concern, protect information and route it.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14" name="Google Shape;114;p11">
            <a:extLst xmlns:a="http://schemas.openxmlformats.org/drawingml/2006/main">
              <a:ext uri="{FF2B5EF4-FFF2-40B4-BE49-F238E27FC236}">
                <a16:creationId xmlns:a16="http://schemas.microsoft.com/office/drawing/2014/main" id="{373BF450-BFCB-47B1-865F-AAF7AA97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Stop if a post exposes private or incorrect information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Report suspected incidents through the approved route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Record only the minimum facts needed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Route rights requests and authority demands securely</a:t>
            </a:r>
          </a:p>
        </p:txBody>
      </p:sp>
      <p:sp>
        <p:nvSpPr>
          <p:cNvPr id="115" name="Google Shape;115;p11">
            <a:extLst xmlns:a="http://schemas.openxmlformats.org/drawingml/2006/main">
              <a:ext uri="{FF2B5EF4-FFF2-40B4-BE49-F238E27FC236}">
                <a16:creationId xmlns:a16="http://schemas.microsoft.com/office/drawing/2014/main" id="{E0B51D5F-67B8-4729-85D2-5D79B6F1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16" name="Google Shape;116;p11">
            <a:extLst xmlns:a="http://schemas.openxmlformats.org/drawingml/2006/main">
              <a:ext uri="{FF2B5EF4-FFF2-40B4-BE49-F238E27FC236}">
                <a16:creationId xmlns:a16="http://schemas.microsoft.com/office/drawing/2014/main" id="{F3B4E15B-8D04-4181-9CEC-6632E21D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117" name="Google Shape;117;p11">
            <a:extLst xmlns:a="http://schemas.openxmlformats.org/drawingml/2006/main">
              <a:ext uri="{FF2B5EF4-FFF2-40B4-BE49-F238E27FC236}">
                <a16:creationId xmlns:a16="http://schemas.microsoft.com/office/drawing/2014/main" id="{C8C6F225-8FFB-4DD5-A1C8-AC5AC8CF45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f99cd3baa0493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520491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3" name="Google Shape;123;p12">
            <a:extLst xmlns:a="http://schemas.openxmlformats.org/drawingml/2006/main">
              <a:ext uri="{FF2B5EF4-FFF2-40B4-BE49-F238E27FC236}">
                <a16:creationId xmlns:a16="http://schemas.microsoft.com/office/drawing/2014/main" id="{304B212B-310F-47E5-9E31-AE4841009A0D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4" name="Google Shape;124;p12">
            <a:extLst xmlns:a="http://schemas.openxmlformats.org/drawingml/2006/main">
              <a:ext uri="{FF2B5EF4-FFF2-40B4-BE49-F238E27FC236}">
                <a16:creationId xmlns:a16="http://schemas.microsoft.com/office/drawing/2014/main" id="{FEF98001-283A-436B-94F0-26390B64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Social channels and publishing tools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25" name="Google Shape;125;p12">
            <a:extLst xmlns:a="http://schemas.openxmlformats.org/drawingml/2006/main">
              <a:ext uri="{FF2B5EF4-FFF2-40B4-BE49-F238E27FC236}">
                <a16:creationId xmlns:a16="http://schemas.microsoft.com/office/drawing/2014/main" id="{6E468CDF-917C-4DE5-98AC-B9024BCA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Use the approved accounts and workflow for each channel.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26" name="Google Shape;126;p12">
            <a:extLst xmlns:a="http://schemas.openxmlformats.org/drawingml/2006/main">
              <a:ext uri="{FF2B5EF4-FFF2-40B4-BE49-F238E27FC236}">
                <a16:creationId xmlns:a16="http://schemas.microsoft.com/office/drawing/2014/main" id="{C4505444-F0C7-40F1-AD11-AF48AF8C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52650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Know the purpose and audience of each approved channel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Use role-based access and the authorised scheduler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Check drafts, approvals, timing and published status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Follow current platform and Q procedures</a:t>
            </a:r>
          </a:p>
        </p:txBody>
      </p:sp>
      <p:sp>
        <p:nvSpPr>
          <p:cNvPr id="127" name="Google Shape;127;p12">
            <a:extLst xmlns:a="http://schemas.openxmlformats.org/drawingml/2006/main">
              <a:ext uri="{FF2B5EF4-FFF2-40B4-BE49-F238E27FC236}">
                <a16:creationId xmlns:a16="http://schemas.microsoft.com/office/drawing/2014/main" id="{CCE26D17-E053-40A1-8C7E-B28B869D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28" name="Google Shape;128;p12">
            <a:extLst xmlns:a="http://schemas.openxmlformats.org/drawingml/2006/main">
              <a:ext uri="{FF2B5EF4-FFF2-40B4-BE49-F238E27FC236}">
                <a16:creationId xmlns:a16="http://schemas.microsoft.com/office/drawing/2014/main" id="{69590FF4-6382-4D4D-B03F-9BF83913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129" name="Google Shape;129;p12">
            <a:extLst xmlns:a="http://schemas.openxmlformats.org/drawingml/2006/main">
              <a:ext uri="{FF2B5EF4-FFF2-40B4-BE49-F238E27FC236}">
                <a16:creationId xmlns:a16="http://schemas.microsoft.com/office/drawing/2014/main" id="{DDE903FF-8AAD-4E63-81D0-24CE34F1F4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aa53a435c7463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6006617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206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35" name="Google Shape;135;p13">
            <a:extLst xmlns:a="http://schemas.openxmlformats.org/drawingml/2006/main">
              <a:ext uri="{FF2B5EF4-FFF2-40B4-BE49-F238E27FC236}">
                <a16:creationId xmlns:a16="http://schemas.microsoft.com/office/drawing/2014/main" id="{86974A8B-947D-45E7-ACAD-B472067097E1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6" name="Google Shape;136;p13">
            <a:extLst xmlns:a="http://schemas.openxmlformats.org/drawingml/2006/main">
              <a:ext uri="{FF2B5EF4-FFF2-40B4-BE49-F238E27FC236}">
                <a16:creationId xmlns:a16="http://schemas.microsoft.com/office/drawing/2014/main" id="{7BC61D08-7A4D-4387-B949-DF3D0BD8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Writing for social media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37" name="Google Shape;137;p13">
            <a:extLst xmlns:a="http://schemas.openxmlformats.org/drawingml/2006/main">
              <a:ext uri="{FF2B5EF4-FFF2-40B4-BE49-F238E27FC236}">
                <a16:creationId xmlns:a16="http://schemas.microsoft.com/office/drawing/2014/main" id="{C5180E71-D4D9-45CB-8EEC-3135B970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Make each post clear, accurate and suited to its audience.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38" name="Google Shape;138;p13">
            <a:extLst xmlns:a="http://schemas.openxmlformats.org/drawingml/2006/main">
              <a:ext uri="{FF2B5EF4-FFF2-40B4-BE49-F238E27FC236}">
                <a16:creationId xmlns:a16="http://schemas.microsoft.com/office/drawing/2014/main" id="{49C7850D-C271-45F0-9A6D-5469ADA7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Lead with one clear point and use plain language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Follow the approved brand voice and accessibility guidance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Check every claim, link, name, tag and image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Use current Help content for product details</a:t>
            </a:r>
          </a:p>
        </p:txBody>
      </p:sp>
      <p:sp>
        <p:nvSpPr>
          <p:cNvPr id="139" name="Google Shape;139;p13">
            <a:extLst xmlns:a="http://schemas.openxmlformats.org/drawingml/2006/main">
              <a:ext uri="{FF2B5EF4-FFF2-40B4-BE49-F238E27FC236}">
                <a16:creationId xmlns:a16="http://schemas.microsoft.com/office/drawing/2014/main" id="{727A2086-B4BB-4117-B317-EDCD31FB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40" name="Google Shape;140;p13">
            <a:extLst xmlns:a="http://schemas.openxmlformats.org/drawingml/2006/main">
              <a:ext uri="{FF2B5EF4-FFF2-40B4-BE49-F238E27FC236}">
                <a16:creationId xmlns:a16="http://schemas.microsoft.com/office/drawing/2014/main" id="{7B641BF9-D7EA-45A0-8C74-37626AF1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B5F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141" name="Google Shape;141;p13">
            <a:extLst xmlns:a="http://schemas.openxmlformats.org/drawingml/2006/main">
              <a:ext uri="{FF2B5EF4-FFF2-40B4-BE49-F238E27FC236}">
                <a16:creationId xmlns:a16="http://schemas.microsoft.com/office/drawing/2014/main" id="{655B19F7-CF7C-414B-89A0-7AB79740FC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d7db92080da4f4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543301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7" name="Google Shape;147;p14">
            <a:extLst xmlns:a="http://schemas.openxmlformats.org/drawingml/2006/main">
              <a:ext uri="{FF2B5EF4-FFF2-40B4-BE49-F238E27FC236}">
                <a16:creationId xmlns:a16="http://schemas.microsoft.com/office/drawing/2014/main" id="{D2684D03-88F3-4084-9A77-DC67812C82E9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8" name="Google Shape;148;p14">
            <a:extLst xmlns:a="http://schemas.openxmlformats.org/drawingml/2006/main">
              <a:ext uri="{FF2B5EF4-FFF2-40B4-BE49-F238E27FC236}">
                <a16:creationId xmlns:a16="http://schemas.microsoft.com/office/drawing/2014/main" id="{7471060F-DD71-49B0-8820-9B9520F8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Community care and boundaries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49" name="Google Shape;149;p14">
            <a:extLst xmlns:a="http://schemas.openxmlformats.org/drawingml/2006/main">
              <a:ext uri="{FF2B5EF4-FFF2-40B4-BE49-F238E27FC236}">
                <a16:creationId xmlns:a16="http://schemas.microsoft.com/office/drawing/2014/main" id="{EEFAC795-CA85-46B8-A1B4-8C144864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Be warm and respectful without turning public replies into private support.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50" name="Google Shape;150;p14">
            <a:extLst xmlns:a="http://schemas.openxmlformats.org/drawingml/2006/main">
              <a:ext uri="{FF2B5EF4-FFF2-40B4-BE49-F238E27FC236}">
                <a16:creationId xmlns:a16="http://schemas.microsoft.com/office/drawing/2014/main" id="{426C4ACA-D79D-49C1-A5C2-2BEC3004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Acknowledge concerns without debating or shaming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Do not ask people to post sensitive details publicly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Move support queries to the approved secure route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Use approved safety guidance for urgent danger</a:t>
            </a:r>
          </a:p>
        </p:txBody>
      </p:sp>
      <p:sp>
        <p:nvSpPr>
          <p:cNvPr id="151" name="Google Shape;151;p14">
            <a:extLst xmlns:a="http://schemas.openxmlformats.org/drawingml/2006/main">
              <a:ext uri="{FF2B5EF4-FFF2-40B4-BE49-F238E27FC236}">
                <a16:creationId xmlns:a16="http://schemas.microsoft.com/office/drawing/2014/main" id="{26DCA0A9-B89E-436F-BE73-9B8D817B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52" name="Google Shape;152;p14">
            <a:extLst xmlns:a="http://schemas.openxmlformats.org/drawingml/2006/main">
              <a:ext uri="{FF2B5EF4-FFF2-40B4-BE49-F238E27FC236}">
                <a16:creationId xmlns:a16="http://schemas.microsoft.com/office/drawing/2014/main" id="{B678FB59-6A6B-4996-9B96-A97D146E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153" name="Google Shape;153;p14">
            <a:extLst xmlns:a="http://schemas.openxmlformats.org/drawingml/2006/main">
              <a:ext uri="{FF2B5EF4-FFF2-40B4-BE49-F238E27FC236}">
                <a16:creationId xmlns:a16="http://schemas.microsoft.com/office/drawing/2014/main" id="{C02D9D41-4757-4622-9FD7-B01A8D6DCD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f82bd5f540476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4" name="Google Shape;154;p14">
            <a:extLst xmlns:a="http://schemas.openxmlformats.org/drawingml/2006/main">
              <a:ext uri="{FF2B5EF4-FFF2-40B4-BE49-F238E27FC236}">
                <a16:creationId xmlns:a16="http://schemas.microsoft.com/office/drawing/2014/main" id="{F796425A-A344-40AB-B0DD-06F3DC4D5D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f6fdc27525429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05772" y="6523921"/>
            <a:ext cx="1347448" cy="21393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5" name="Google Shape;155;p14">
            <a:hlinkClick xmlns:r="http://schemas.openxmlformats.org/officeDocument/2006/relationships" xmlns:a="http://schemas.openxmlformats.org/drawingml/2006/main" r:id="R68dbcda25fc54a52"/>
            <a:extLst xmlns:a="http://schemas.openxmlformats.org/drawingml/2006/main">
              <a:ext uri="{FF2B5EF4-FFF2-40B4-BE49-F238E27FC236}">
                <a16:creationId xmlns:a16="http://schemas.microsoft.com/office/drawing/2014/main" id="{E4359F24-21DB-4C12-BD47-4FB38B33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5772" y="6523921"/>
            <a:ext cx="1347448" cy="2139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99755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1" name="Google Shape;161;p15">
            <a:extLst xmlns:a="http://schemas.openxmlformats.org/drawingml/2006/main">
              <a:ext uri="{FF2B5EF4-FFF2-40B4-BE49-F238E27FC236}">
                <a16:creationId xmlns:a16="http://schemas.microsoft.com/office/drawing/2014/main" id="{F9FE5B9E-E869-42A3-A13E-82DC9F665198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2" name="Google Shape;162;p15">
            <a:extLst xmlns:a="http://schemas.openxmlformats.org/drawingml/2006/main">
              <a:ext uri="{FF2B5EF4-FFF2-40B4-BE49-F238E27FC236}">
                <a16:creationId xmlns:a16="http://schemas.microsoft.com/office/drawing/2014/main" id="{790EA7AE-DB36-4FD0-981E-9BD1EB66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Accounts, access and team coordination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63" name="Google Shape;163;p15">
            <a:extLst xmlns:a="http://schemas.openxmlformats.org/drawingml/2006/main">
              <a:ext uri="{FF2B5EF4-FFF2-40B4-BE49-F238E27FC236}">
                <a16:creationId xmlns:a16="http://schemas.microsoft.com/office/drawing/2014/main" id="{6DA4FBFF-C304-4CD0-80ED-A9708C77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Use the right work identity and stay within granted access.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64" name="Google Shape;164;p15">
            <a:extLst xmlns:a="http://schemas.openxmlformats.org/drawingml/2006/main">
              <a:ext uri="{FF2B5EF4-FFF2-40B4-BE49-F238E27FC236}">
                <a16:creationId xmlns:a16="http://schemas.microsoft.com/office/drawing/2014/main" id="{D6375742-2A67-4CAD-9549-AF83D5FB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Use your individual login and required security checks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Publish only from accounts assigned to your role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Coordinate ownership to avoid duplicate or conflicting replies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Keep account recovery and handovers within approved processes</a:t>
            </a:r>
          </a:p>
        </p:txBody>
      </p:sp>
      <p:sp>
        <p:nvSpPr>
          <p:cNvPr id="165" name="Google Shape;165;p15">
            <a:extLst xmlns:a="http://schemas.openxmlformats.org/drawingml/2006/main">
              <a:ext uri="{FF2B5EF4-FFF2-40B4-BE49-F238E27FC236}">
                <a16:creationId xmlns:a16="http://schemas.microsoft.com/office/drawing/2014/main" id="{38BEC445-B6AB-49D5-9508-AC6BB146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66" name="Google Shape;166;p15">
            <a:extLst xmlns:a="http://schemas.openxmlformats.org/drawingml/2006/main">
              <a:ext uri="{FF2B5EF4-FFF2-40B4-BE49-F238E27FC236}">
                <a16:creationId xmlns:a16="http://schemas.microsoft.com/office/drawing/2014/main" id="{176890DF-0ED7-48F4-9173-533AA4CA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167" name="Google Shape;167;p15">
            <a:extLst xmlns:a="http://schemas.openxmlformats.org/drawingml/2006/main">
              <a:ext uri="{FF2B5EF4-FFF2-40B4-BE49-F238E27FC236}">
                <a16:creationId xmlns:a16="http://schemas.microsoft.com/office/drawing/2014/main" id="{37D0D4AF-7693-4B35-8952-47E05F7044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e7b1e48633445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62019830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206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3" name="Google Shape;173;p16">
            <a:extLst xmlns:a="http://schemas.openxmlformats.org/drawingml/2006/main">
              <a:ext uri="{FF2B5EF4-FFF2-40B4-BE49-F238E27FC236}">
                <a16:creationId xmlns:a16="http://schemas.microsoft.com/office/drawing/2014/main" id="{6BE78357-CFDC-4984-AB1F-983DBCD97EA3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4" name="Google Shape;174;p16">
            <a:extLst xmlns:a="http://schemas.openxmlformats.org/drawingml/2006/main">
              <a:ext uri="{FF2B5EF4-FFF2-40B4-BE49-F238E27FC236}">
                <a16:creationId xmlns:a16="http://schemas.microsoft.com/office/drawing/2014/main" id="{90EA6214-0732-43E7-83A4-1B025532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Content records and activity logs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75" name="Google Shape;175;p16">
            <a:extLst xmlns:a="http://schemas.openxmlformats.org/drawingml/2006/main">
              <a:ext uri="{FF2B5EF4-FFF2-40B4-BE49-F238E27FC236}">
                <a16:creationId xmlns:a16="http://schemas.microsoft.com/office/drawing/2014/main" id="{9BEDDB17-5B0E-4C14-B692-10B6C2A4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Keep a clear record of what was planned, approved and published.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76" name="Google Shape;176;p16">
            <a:extLst xmlns:a="http://schemas.openxmlformats.org/drawingml/2006/main">
              <a:ext uri="{FF2B5EF4-FFF2-40B4-BE49-F238E27FC236}">
                <a16:creationId xmlns:a16="http://schemas.microsoft.com/office/drawing/2014/main" id="{6B377760-B172-4A2B-9E5F-23AE28F1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Use the approved content calendar and record fields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Track owner, channel, approval, timing and status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Link the final asset and published post where required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Record moderation actions according to procedure</a:t>
            </a:r>
          </a:p>
        </p:txBody>
      </p:sp>
      <p:sp>
        <p:nvSpPr>
          <p:cNvPr id="177" name="Google Shape;177;p16">
            <a:extLst xmlns:a="http://schemas.openxmlformats.org/drawingml/2006/main">
              <a:ext uri="{FF2B5EF4-FFF2-40B4-BE49-F238E27FC236}">
                <a16:creationId xmlns:a16="http://schemas.microsoft.com/office/drawing/2014/main" id="{03438914-C413-4282-85A7-9FDBCF73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78" name="Google Shape;178;p16">
            <a:extLst xmlns:a="http://schemas.openxmlformats.org/drawingml/2006/main">
              <a:ext uri="{FF2B5EF4-FFF2-40B4-BE49-F238E27FC236}">
                <a16:creationId xmlns:a16="http://schemas.microsoft.com/office/drawing/2014/main" id="{D6E5A90E-4C97-4C60-B102-5E36C15A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B5F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179" name="Google Shape;179;p16">
            <a:extLst xmlns:a="http://schemas.openxmlformats.org/drawingml/2006/main">
              <a:ext uri="{FF2B5EF4-FFF2-40B4-BE49-F238E27FC236}">
                <a16:creationId xmlns:a16="http://schemas.microsoft.com/office/drawing/2014/main" id="{C7073811-2FD2-4BEE-9C4E-D03D520324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9f38441698494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2236304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5" name="Google Shape;185;p17">
            <a:extLst xmlns:a="http://schemas.openxmlformats.org/drawingml/2006/main">
              <a:ext uri="{FF2B5EF4-FFF2-40B4-BE49-F238E27FC236}">
                <a16:creationId xmlns:a16="http://schemas.microsoft.com/office/drawing/2014/main" id="{F4831981-A1AA-45F3-9CA9-1D57926BFD07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6" name="Google Shape;186;p17">
            <a:extLst xmlns:a="http://schemas.openxmlformats.org/drawingml/2006/main">
              <a:ext uri="{FF2B5EF4-FFF2-40B4-BE49-F238E27FC236}">
                <a16:creationId xmlns:a16="http://schemas.microsoft.com/office/drawing/2014/main" id="{B7454F94-AEC8-4AB4-86F6-AB08AF80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Notes, hand-offs and corrections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87" name="Google Shape;187;p17">
            <a:extLst xmlns:a="http://schemas.openxmlformats.org/drawingml/2006/main">
              <a:ext uri="{FF2B5EF4-FFF2-40B4-BE49-F238E27FC236}">
                <a16:creationId xmlns:a16="http://schemas.microsoft.com/office/drawing/2014/main" id="{31BA3625-799D-40B7-86AF-E46D9AA8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Record what the next person needs to know—clearly and accurately.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88" name="Google Shape;188;p17">
            <a:extLst xmlns:a="http://schemas.openxmlformats.org/drawingml/2006/main">
              <a:ext uri="{FF2B5EF4-FFF2-40B4-BE49-F238E27FC236}">
                <a16:creationId xmlns:a16="http://schemas.microsoft.com/office/drawing/2014/main" id="{65191499-DCC0-49DD-B2FD-2D04648E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Separate verified facts from reports or assumptions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Keep sensitive user content out of routine notes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Assign a clear owner and next action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Correct errors through the authorised process</a:t>
            </a:r>
          </a:p>
        </p:txBody>
      </p:sp>
      <p:sp>
        <p:nvSpPr>
          <p:cNvPr id="189" name="Google Shape;189;p17">
            <a:extLst xmlns:a="http://schemas.openxmlformats.org/drawingml/2006/main">
              <a:ext uri="{FF2B5EF4-FFF2-40B4-BE49-F238E27FC236}">
                <a16:creationId xmlns:a16="http://schemas.microsoft.com/office/drawing/2014/main" id="{620BFEE3-6B74-4193-A2D6-FC8C8916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90" name="Google Shape;190;p17">
            <a:extLst xmlns:a="http://schemas.openxmlformats.org/drawingml/2006/main">
              <a:ext uri="{FF2B5EF4-FFF2-40B4-BE49-F238E27FC236}">
                <a16:creationId xmlns:a16="http://schemas.microsoft.com/office/drawing/2014/main" id="{0B491C3D-727E-4A2F-9801-4217BCCE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191" name="Google Shape;191;p17">
            <a:extLst xmlns:a="http://schemas.openxmlformats.org/drawingml/2006/main">
              <a:ext uri="{FF2B5EF4-FFF2-40B4-BE49-F238E27FC236}">
                <a16:creationId xmlns:a16="http://schemas.microsoft.com/office/drawing/2014/main" id="{0800AA80-6919-4552-AC0A-833CF8D9A4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c19851214f49a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0146335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206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97" name="Google Shape;197;p18">
            <a:extLst xmlns:a="http://schemas.openxmlformats.org/drawingml/2006/main">
              <a:ext uri="{FF2B5EF4-FFF2-40B4-BE49-F238E27FC236}">
                <a16:creationId xmlns:a16="http://schemas.microsoft.com/office/drawing/2014/main" id="{FED0DF81-B0A9-4EB0-AE40-1F511422BD6B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8" name="Google Shape;198;p18">
            <a:extLst xmlns:a="http://schemas.openxmlformats.org/drawingml/2006/main">
              <a:ext uri="{FF2B5EF4-FFF2-40B4-BE49-F238E27FC236}">
                <a16:creationId xmlns:a16="http://schemas.microsoft.com/office/drawing/2014/main" id="{2B5AD097-A293-4BE8-9045-DC144394A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The social media workflow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99" name="Google Shape;199;p18">
            <a:extLst xmlns:a="http://schemas.openxmlformats.org/drawingml/2006/main">
              <a:ext uri="{FF2B5EF4-FFF2-40B4-BE49-F238E27FC236}">
                <a16:creationId xmlns:a16="http://schemas.microsoft.com/office/drawing/2014/main" id="{E208835C-49EF-47AB-879B-AF24044D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Move each item from brief to review, publication and learning.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00" name="Google Shape;200;p18">
            <a:extLst xmlns:a="http://schemas.openxmlformats.org/drawingml/2006/main">
              <a:ext uri="{FF2B5EF4-FFF2-40B4-BE49-F238E27FC236}">
                <a16:creationId xmlns:a16="http://schemas.microsoft.com/office/drawing/2014/main" id="{9F0C0E6A-6530-4A82-9A6F-6318205C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Confirm the brief, audience, objective and source facts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Draft content and prepare the required assets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Get the required review before scheduling or posting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Monitor response, record outcomes and follow up</a:t>
            </a:r>
          </a:p>
        </p:txBody>
      </p:sp>
      <p:sp>
        <p:nvSpPr>
          <p:cNvPr id="201" name="Google Shape;201;p18">
            <a:extLst xmlns:a="http://schemas.openxmlformats.org/drawingml/2006/main">
              <a:ext uri="{FF2B5EF4-FFF2-40B4-BE49-F238E27FC236}">
                <a16:creationId xmlns:a16="http://schemas.microsoft.com/office/drawing/2014/main" id="{AD47C77E-A7E9-4D1C-BA18-39D4B496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02" name="Google Shape;202;p18">
            <a:extLst xmlns:a="http://schemas.openxmlformats.org/drawingml/2006/main">
              <a:ext uri="{FF2B5EF4-FFF2-40B4-BE49-F238E27FC236}">
                <a16:creationId xmlns:a16="http://schemas.microsoft.com/office/drawing/2014/main" id="{2C9A97F2-EEEA-42F9-AE50-D315EBF8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B5F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203" name="Google Shape;203;p18">
            <a:extLst xmlns:a="http://schemas.openxmlformats.org/drawingml/2006/main">
              <a:ext uri="{FF2B5EF4-FFF2-40B4-BE49-F238E27FC236}">
                <a16:creationId xmlns:a16="http://schemas.microsoft.com/office/drawing/2014/main" id="{5C6B278F-3CF3-44D9-B017-6941ED545A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197eea37534a8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49790117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09" name="Google Shape;209;p19">
            <a:extLst xmlns:a="http://schemas.openxmlformats.org/drawingml/2006/main">
              <a:ext uri="{FF2B5EF4-FFF2-40B4-BE49-F238E27FC236}">
                <a16:creationId xmlns:a16="http://schemas.microsoft.com/office/drawing/2014/main" id="{404EB1DC-F31D-412E-A471-9E2DA8D0B24B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0" name="Google Shape;210;p19">
            <a:extLst xmlns:a="http://schemas.openxmlformats.org/drawingml/2006/main">
              <a:ext uri="{FF2B5EF4-FFF2-40B4-BE49-F238E27FC236}">
                <a16:creationId xmlns:a16="http://schemas.microsoft.com/office/drawing/2014/main" id="{B6BB4A3B-C2BF-4AEB-AEF9-0FB44A1D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Clear, professional public replies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11" name="Google Shape;211;p19">
            <a:extLst xmlns:a="http://schemas.openxmlformats.org/drawingml/2006/main">
              <a:ext uri="{FF2B5EF4-FFF2-40B4-BE49-F238E27FC236}">
                <a16:creationId xmlns:a16="http://schemas.microsoft.com/office/drawing/2014/main" id="{44724232-ABF3-496D-95B4-8D698A6E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A good reply helps the person understand the next safe step.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12" name="Google Shape;212;p19">
            <a:extLst xmlns:a="http://schemas.openxmlformats.org/drawingml/2006/main">
              <a:ext uri="{FF2B5EF4-FFF2-40B4-BE49-F238E27FC236}">
                <a16:creationId xmlns:a16="http://schemas.microsoft.com/office/drawing/2014/main" id="{67A7D736-741E-4520-9864-48392FE4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Acknowledge the question and keep a respectful tone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Share one confirmed answer or approved next step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Use templates as drafts and check every detail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Avoid invented timelines, guarantees and unsupported claims</a:t>
            </a:r>
          </a:p>
        </p:txBody>
      </p:sp>
      <p:sp>
        <p:nvSpPr>
          <p:cNvPr id="213" name="Google Shape;213;p19">
            <a:extLst xmlns:a="http://schemas.openxmlformats.org/drawingml/2006/main">
              <a:ext uri="{FF2B5EF4-FFF2-40B4-BE49-F238E27FC236}">
                <a16:creationId xmlns:a16="http://schemas.microsoft.com/office/drawing/2014/main" id="{8ADA87B3-79FE-43BA-9979-89BEAE39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14" name="Google Shape;214;p19">
            <a:extLst xmlns:a="http://schemas.openxmlformats.org/drawingml/2006/main">
              <a:ext uri="{FF2B5EF4-FFF2-40B4-BE49-F238E27FC236}">
                <a16:creationId xmlns:a16="http://schemas.microsoft.com/office/drawing/2014/main" id="{51B8BBF2-5D5D-40C9-8128-D71FD5F4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215" name="Google Shape;215;p19">
            <a:extLst xmlns:a="http://schemas.openxmlformats.org/drawingml/2006/main">
              <a:ext uri="{FF2B5EF4-FFF2-40B4-BE49-F238E27FC236}">
                <a16:creationId xmlns:a16="http://schemas.microsoft.com/office/drawing/2014/main" id="{0FCE512D-CE72-4FDE-88CA-DC227972D5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b9f27c43dc4e6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8436792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21" name="Google Shape;221;p20">
            <a:extLst xmlns:a="http://schemas.openxmlformats.org/drawingml/2006/main">
              <a:ext uri="{FF2B5EF4-FFF2-40B4-BE49-F238E27FC236}">
                <a16:creationId xmlns:a16="http://schemas.microsoft.com/office/drawing/2014/main" id="{71A31A0A-BD09-4BB6-A33E-A5181D1C0EE8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2" name="Google Shape;222;p20">
            <a:extLst xmlns:a="http://schemas.openxmlformats.org/drawingml/2006/main">
              <a:ext uri="{FF2B5EF4-FFF2-40B4-BE49-F238E27FC236}">
                <a16:creationId xmlns:a16="http://schemas.microsoft.com/office/drawing/2014/main" id="{77F6E7EA-65A8-4705-81A5-584BE8E0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Integrated case simulations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23" name="Google Shape;223;p20">
            <a:extLst xmlns:a="http://schemas.openxmlformats.org/drawingml/2006/main">
              <a:ext uri="{FF2B5EF4-FFF2-40B4-BE49-F238E27FC236}">
                <a16:creationId xmlns:a16="http://schemas.microsoft.com/office/drawing/2014/main" id="{EF2C34C3-2488-4CDD-9610-7EEA5F92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Practise the workflow with fictional posts and user details.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24" name="Google Shape;224;p20">
            <a:extLst xmlns:a="http://schemas.openxmlformats.org/drawingml/2006/main">
              <a:ext uri="{FF2B5EF4-FFF2-40B4-BE49-F238E27FC236}">
                <a16:creationId xmlns:a16="http://schemas.microsoft.com/office/drawing/2014/main" id="{595D3EB1-BB8F-4B5C-8749-CC41D62F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Review the brief and identify the audience and key message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Prepare a post and check facts, tone and accessibility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Respond to a challenging comment within role boundaries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Record actions and escalate when the scenario requires it</a:t>
            </a:r>
          </a:p>
        </p:txBody>
      </p:sp>
      <p:sp>
        <p:nvSpPr>
          <p:cNvPr id="225" name="Google Shape;225;p20">
            <a:extLst xmlns:a="http://schemas.openxmlformats.org/drawingml/2006/main">
              <a:ext uri="{FF2B5EF4-FFF2-40B4-BE49-F238E27FC236}">
                <a16:creationId xmlns:a16="http://schemas.microsoft.com/office/drawing/2014/main" id="{27A64F0F-ACAD-4551-85F9-30A3E4C4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26" name="Google Shape;226;p20">
            <a:extLst xmlns:a="http://schemas.openxmlformats.org/drawingml/2006/main">
              <a:ext uri="{FF2B5EF4-FFF2-40B4-BE49-F238E27FC236}">
                <a16:creationId xmlns:a16="http://schemas.microsoft.com/office/drawing/2014/main" id="{CC2D9819-CA98-4558-80C5-D89B73E2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227" name="Google Shape;227;p20">
            <a:extLst xmlns:a="http://schemas.openxmlformats.org/drawingml/2006/main">
              <a:ext uri="{FF2B5EF4-FFF2-40B4-BE49-F238E27FC236}">
                <a16:creationId xmlns:a16="http://schemas.microsoft.com/office/drawing/2014/main" id="{59962AC5-87BE-48A2-9361-46B7CC1938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69f5e91f20428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5883853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206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33" name="Google Shape;233;p21">
            <a:extLst xmlns:a="http://schemas.openxmlformats.org/drawingml/2006/main">
              <a:ext uri="{FF2B5EF4-FFF2-40B4-BE49-F238E27FC236}">
                <a16:creationId xmlns:a16="http://schemas.microsoft.com/office/drawing/2014/main" id="{F447D726-150C-44D8-ACB1-FBCE8A108127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4" name="Google Shape;234;p21">
            <a:extLst xmlns:a="http://schemas.openxmlformats.org/drawingml/2006/main">
              <a:ext uri="{FF2B5EF4-FFF2-40B4-BE49-F238E27FC236}">
                <a16:creationId xmlns:a16="http://schemas.microsoft.com/office/drawing/2014/main" id="{4C64FA62-B0B1-4741-9368-FB705083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Observed assessment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35" name="Google Shape;235;p21">
            <a:extLst xmlns:a="http://schemas.openxmlformats.org/drawingml/2006/main">
              <a:ext uri="{FF2B5EF4-FFF2-40B4-BE49-F238E27FC236}">
                <a16:creationId xmlns:a16="http://schemas.microsoft.com/office/drawing/2014/main" id="{F761CE3D-F973-4DDD-86B9-53FD3699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Show safe, accurate work from draft through hand-off.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36" name="Google Shape;236;p21">
            <a:extLst xmlns:a="http://schemas.openxmlformats.org/drawingml/2006/main">
              <a:ext uri="{FF2B5EF4-FFF2-40B4-BE49-F238E27FC236}">
                <a16:creationId xmlns:a16="http://schemas.microsoft.com/office/drawing/2014/main" id="{CDC8C755-F351-438D-9B4F-4211EA0E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Brand voice, audience fit and accurate claims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Privacy, accessibility and publishing checks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Sound moderation judgement and escalation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Clear records, ownership and communication</a:t>
            </a:r>
          </a:p>
        </p:txBody>
      </p:sp>
      <p:sp>
        <p:nvSpPr>
          <p:cNvPr id="237" name="Google Shape;237;p21">
            <a:extLst xmlns:a="http://schemas.openxmlformats.org/drawingml/2006/main">
              <a:ext uri="{FF2B5EF4-FFF2-40B4-BE49-F238E27FC236}">
                <a16:creationId xmlns:a16="http://schemas.microsoft.com/office/drawing/2014/main" id="{9E065C47-8D27-4A11-A404-2BEB94E4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38" name="Google Shape;238;p21">
            <a:extLst xmlns:a="http://schemas.openxmlformats.org/drawingml/2006/main">
              <a:ext uri="{FF2B5EF4-FFF2-40B4-BE49-F238E27FC236}">
                <a16:creationId xmlns:a16="http://schemas.microsoft.com/office/drawing/2014/main" id="{B7829EA7-ACCF-4744-8811-62F99E40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B5F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239" name="Google Shape;239;p21">
            <a:extLst xmlns:a="http://schemas.openxmlformats.org/drawingml/2006/main">
              <a:ext uri="{FF2B5EF4-FFF2-40B4-BE49-F238E27FC236}">
                <a16:creationId xmlns:a16="http://schemas.microsoft.com/office/drawing/2014/main" id="{D3730626-2356-4B1F-B6BE-9CB3261C7C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b0355e89e04ba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36162732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5" name="Google Shape;245;p22">
            <a:extLst xmlns:a="http://schemas.openxmlformats.org/drawingml/2006/main">
              <a:ext uri="{FF2B5EF4-FFF2-40B4-BE49-F238E27FC236}">
                <a16:creationId xmlns:a16="http://schemas.microsoft.com/office/drawing/2014/main" id="{F3F76A97-E1EC-45C7-9990-736F99DCD0FC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6" name="Google Shape;246;p22">
            <a:extLst xmlns:a="http://schemas.openxmlformats.org/drawingml/2006/main">
              <a:ext uri="{FF2B5EF4-FFF2-40B4-BE49-F238E27FC236}">
                <a16:creationId xmlns:a16="http://schemas.microsoft.com/office/drawing/2014/main" id="{359D9904-F1BA-4C15-B109-DF88A4DE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Knowledge check, coaching and sign-off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47" name="Google Shape;247;p22">
            <a:extLst xmlns:a="http://schemas.openxmlformats.org/drawingml/2006/main">
              <a:ext uri="{FF2B5EF4-FFF2-40B4-BE49-F238E27FC236}">
                <a16:creationId xmlns:a16="http://schemas.microsoft.com/office/drawing/2014/main" id="{4C283048-E738-41FF-93A9-F82489789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A short check and observed practice confirm readiness.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48" name="Google Shape;248;p22">
            <a:extLst xmlns:a="http://schemas.openxmlformats.org/drawingml/2006/main">
              <a:ext uri="{FF2B5EF4-FFF2-40B4-BE49-F238E27FC236}">
                <a16:creationId xmlns:a16="http://schemas.microsoft.com/office/drawing/2014/main" id="{218F373B-7A81-4022-BAF4-2656B003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Check understanding of Q, channels, privacy and escalation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Review feedback and practise any missed steps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Confirm access, approvals and local procedures</a:t>
            </a: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Begin live publishing only after authorised sign-off</a:t>
            </a:r>
          </a:p>
        </p:txBody>
      </p:sp>
      <p:sp>
        <p:nvSpPr>
          <p:cNvPr id="249" name="Google Shape;249;p22">
            <a:extLst xmlns:a="http://schemas.openxmlformats.org/drawingml/2006/main">
              <a:ext uri="{FF2B5EF4-FFF2-40B4-BE49-F238E27FC236}">
                <a16:creationId xmlns:a16="http://schemas.microsoft.com/office/drawing/2014/main" id="{3591C0C9-AC87-4353-87F6-97D28277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50" name="Google Shape;250;p22">
            <a:extLst xmlns:a="http://schemas.openxmlformats.org/drawingml/2006/main">
              <a:ext uri="{FF2B5EF4-FFF2-40B4-BE49-F238E27FC236}">
                <a16:creationId xmlns:a16="http://schemas.microsoft.com/office/drawing/2014/main" id="{363187A1-3AB3-4357-962A-6DD1F1DB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251" name="Google Shape;251;p22">
            <a:extLst xmlns:a="http://schemas.openxmlformats.org/drawingml/2006/main">
              <a:ext uri="{FF2B5EF4-FFF2-40B4-BE49-F238E27FC236}">
                <a16:creationId xmlns:a16="http://schemas.microsoft.com/office/drawing/2014/main" id="{FA2ED48A-13DA-446A-A4EA-52676E8F6C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c786e637274d7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14636367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206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57" name="Google Shape;257;p23">
            <a:extLst xmlns:a="http://schemas.openxmlformats.org/drawingml/2006/main">
              <a:ext uri="{FF2B5EF4-FFF2-40B4-BE49-F238E27FC236}">
                <a16:creationId xmlns:a16="http://schemas.microsoft.com/office/drawing/2014/main" id="{D78D7E35-E1D5-436C-837B-ACF7ACFB2EAC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23">
            <a:extLst xmlns:a="http://schemas.openxmlformats.org/drawingml/2006/main">
              <a:ext uri="{FF2B5EF4-FFF2-40B4-BE49-F238E27FC236}">
                <a16:creationId xmlns:a16="http://schemas.microsoft.com/office/drawing/2014/main" id="{CF6B40CD-173C-4AAF-958B-9B3B1C39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Welcome to the team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59" name="Google Shape;259;p23">
            <a:extLst xmlns:a="http://schemas.openxmlformats.org/drawingml/2006/main">
              <a:ext uri="{FF2B5EF4-FFF2-40B4-BE49-F238E27FC236}">
                <a16:creationId xmlns:a16="http://schemas.microsoft.com/office/drawing/2014/main" id="{6105BD2F-9595-477F-B359-9AB0B4BF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Every post and reply is a chance to represent Q with care.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60" name="Google Shape;260;p23">
            <a:extLst xmlns:a="http://schemas.openxmlformats.org/drawingml/2006/main">
              <a:ext uri="{FF2B5EF4-FFF2-40B4-BE49-F238E27FC236}">
                <a16:creationId xmlns:a16="http://schemas.microsoft.com/office/drawing/2014/main" id="{C96FCD8C-0DC5-4D60-B8E1-F69E9D37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Be clear. Protect privacy. Check before you publish.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</a:p>
        </p:txBody>
      </p:sp>
      <p:sp>
        <p:nvSpPr>
          <p:cNvPr id="261" name="Google Shape;261;p23">
            <a:extLst xmlns:a="http://schemas.openxmlformats.org/drawingml/2006/main">
              <a:ext uri="{FF2B5EF4-FFF2-40B4-BE49-F238E27FC236}">
                <a16:creationId xmlns:a16="http://schemas.microsoft.com/office/drawing/2014/main" id="{05EFDB36-6DA4-4574-957D-DC0DBBDE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Q Intelligence · Social Media Officer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62" name="Google Shape;262;p23">
            <a:extLst xmlns:a="http://schemas.openxmlformats.org/drawingml/2006/main">
              <a:ext uri="{FF2B5EF4-FFF2-40B4-BE49-F238E27FC236}">
                <a16:creationId xmlns:a16="http://schemas.microsoft.com/office/drawing/2014/main" id="{611BE1D5-9609-4A96-B2D4-F1D6BD5C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B5F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263" name="Google Shape;263;p23">
            <a:extLst xmlns:a="http://schemas.openxmlformats.org/drawingml/2006/main">
              <a:ext uri="{FF2B5EF4-FFF2-40B4-BE49-F238E27FC236}">
                <a16:creationId xmlns:a16="http://schemas.microsoft.com/office/drawing/2014/main" id="{5800407A-0FAE-49D6-9374-ED69AD3E9F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5b8456da434f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68087848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9" name="Google Shape;269;p24">
            <a:extLst xmlns:a="http://schemas.openxmlformats.org/drawingml/2006/main">
              <a:ext uri="{FF2B5EF4-FFF2-40B4-BE49-F238E27FC236}">
                <a16:creationId xmlns:a16="http://schemas.microsoft.com/office/drawing/2014/main" id="{A88FFD42-18FC-475E-8454-D99D197D3AAD}"/>
              </a:ext>
            </a:extLst>
          </p:cNvPr>
          <p:cNvCxnSpPr/>
          <p:nvPr/>
        </p:nvCxnSpPr>
        <p:spPr>
          <a:xfrm xmlns:a="http://schemas.openxmlformats.org/drawingml/2006/main">
            <a:off x="0" y="238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 cap="flat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0" name="Google Shape;270;p24">
            <a:extLst xmlns:a="http://schemas.openxmlformats.org/drawingml/2006/main">
              <a:ext uri="{FF2B5EF4-FFF2-40B4-BE49-F238E27FC236}">
                <a16:creationId xmlns:a16="http://schemas.microsoft.com/office/drawing/2014/main" id="{6CC1B485-378E-46A1-98E6-31F38BF2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865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230"/>
              <a:buFont typeface="Inter"/>
              <a:buNone/>
            </a:pPr>
            <a:r>
              <a:rPr sz="3230" b="1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Welcome to the team</a:t>
            </a:r>
            <a:endParaRPr sz="323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71" name="Google Shape;271;p24">
            <a:extLst xmlns:a="http://schemas.openxmlformats.org/drawingml/2006/main">
              <a:ext uri="{FF2B5EF4-FFF2-40B4-BE49-F238E27FC236}">
                <a16:creationId xmlns:a16="http://schemas.microsoft.com/office/drawing/2014/main" id="{9524C31F-E700-42B6-8AE6-6933EF19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668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Inter"/>
              <a:buNone/>
            </a:pPr>
            <a:r>
              <a:rPr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Every interaction is a chance to offer clear, affirming support.</a:t>
            </a: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72" name="Google Shape;272;p24">
            <a:extLst xmlns:a="http://schemas.openxmlformats.org/drawingml/2006/main">
              <a:ext uri="{FF2B5EF4-FFF2-40B4-BE49-F238E27FC236}">
                <a16:creationId xmlns:a16="http://schemas.microsoft.com/office/drawing/2014/main" id="{17D28B4F-79EE-493F-98F7-D41BC06E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1009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4574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79"/>
              <a:buFont typeface="Inter"/>
              <a:buNone/>
            </a:pP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Stay curious. Protect privacy. Ask for help when unsure.</a:t>
            </a:r>
            <a:b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</a:br>
            <a:r>
              <a:rPr sz="1880" b="0" i="0" u="none" strike="noStrike" cap="none">
                <a:solidFill>
                  <a:srgbClr val="1F2937"/>
                </a:solidFill>
                <a:latin typeface="Inter"/>
                <a:ea typeface="Inter"/>
                <a:cs typeface="Inter"/>
              </a:rPr>
              <a:t>Q Intelligence · Customer Service Agent Induction</a:t>
            </a:r>
            <a:endParaRPr sz="188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73" name="Google Shape;273;p24">
            <a:extLst xmlns:a="http://schemas.openxmlformats.org/drawingml/2006/main">
              <a:ext uri="{FF2B5EF4-FFF2-40B4-BE49-F238E27FC236}">
                <a16:creationId xmlns:a16="http://schemas.microsoft.com/office/drawing/2014/main" id="{EF23727D-FF57-4126-9C1A-4ADF0461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1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Inter"/>
              <a:buNone/>
            </a:pPr>
            <a:r>
              <a:rPr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Q Intelligence · Customer Service Induction</a:t>
            </a:r>
            <a:endParaRPr sz="12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74" name="Google Shape;274;p24">
            <a:extLst xmlns:a="http://schemas.openxmlformats.org/drawingml/2006/main">
              <a:ext uri="{FF2B5EF4-FFF2-40B4-BE49-F238E27FC236}">
                <a16:creationId xmlns:a16="http://schemas.microsoft.com/office/drawing/2014/main" id="{53839055-7813-4FF9-9B21-AE74E890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943600"/>
            <a:ext cx="171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None/>
            </a:pPr>
            <a:endParaRPr sz="1800" b="0" i="0" u="none" strike="noStrike" cap="none">
              <a:solidFill>
                <a:schemeClr val="dk1"/>
              </a:solidFill>
              <a:latin typeface="Inter"/>
              <a:ea typeface="Inter"/>
              <a:cs typeface="Inter"/>
            </a:endParaRPr>
          </a:p>
        </p:txBody>
      </p:sp>
      <p:pic>
        <p:nvPicPr>
          <p:cNvPr id="275" name="Google Shape;275;p24">
            <a:extLst xmlns:a="http://schemas.openxmlformats.org/drawingml/2006/main">
              <a:ext uri="{FF2B5EF4-FFF2-40B4-BE49-F238E27FC236}">
                <a16:creationId xmlns:a16="http://schemas.microsoft.com/office/drawing/2014/main" id="{562EFD13-8C76-4054-BCCC-9F2A5DE170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1fa95145824419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25125" y="5267325"/>
            <a:ext cx="1038225" cy="1038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063646144"/>
      </p:ext>
    </p:extLst>
  </p:cSld>
</p:sld>
</file>

<file path=ppt/theme/theme1.xml><?xml version="1.0" encoding="utf-8"?>
<a:theme xmlns:a="http://schemas.openxmlformats.org/drawingml/2006/main" name="SlidesAI Simpl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2026-10-19T18:50:55.8130000Z</dcterms:created>
  <dcterms:modified xsi:type="dcterms:W3CDTF">2026-10-19T18:50:55.8130000Z</dcterms:modified>
</coreProperties>
</file>